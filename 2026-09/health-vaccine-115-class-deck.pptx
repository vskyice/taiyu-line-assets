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泰宇 林" initials="泰林" lastIdx="2" clrIdx="0">
    <p:extLst>
      <p:ext uri="{19B8F6BF-5375-455C-9EA6-DF929625EA0E}">
        <p15:presenceInfo xmlns:p15="http://schemas.microsoft.com/office/powerpoint/2012/main" userId="0ad46010253d828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6E5"/>
    <a:srgbClr val="FFC000"/>
    <a:srgbClr val="FFF2CC"/>
    <a:srgbClr val="FFF6DA"/>
    <a:srgbClr val="FAA618"/>
    <a:srgbClr val="FFFFFF"/>
    <a:srgbClr val="D99325"/>
    <a:srgbClr val="EEC9FF"/>
    <a:srgbClr val="E4AD4C"/>
    <a:srgbClr val="E7BC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86465" autoAdjust="0"/>
  </p:normalViewPr>
  <p:slideViewPr>
    <p:cSldViewPr snapToGrid="0">
      <p:cViewPr>
        <p:scale>
          <a:sx n="75" d="100"/>
          <a:sy n="75" d="100"/>
        </p:scale>
        <p:origin x="2172" y="5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3" d="100"/>
        <a:sy n="93" d="100"/>
      </p:scale>
      <p:origin x="0" y="-1279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76" Type="http://schemas.openxmlformats.org/officeDocument/2006/relationships/notesMaster" Target="notesMasters/notesMaster1.xml"/><Relationship Id="rId77" Type="http://schemas.openxmlformats.org/officeDocument/2006/relationships/commentAuthors" Target="commentAuthors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0CFE33-C5E4-45AE-8B15-97DC1300BB24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1EEF2-5A56-4343-A5B2-5EAB4EE77C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09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【來源】疾管署 115/8/25「115 年度公費流感及新冠疫苗 10/1 開打」新聞稿；疾管署 114/9/9「114 年度公費流感疫苗即將於 10 月 1 日開打」新聞稿；gov.tw 115 年公費流感／新冠疫苗 Q&amp;A（查核日 2026-09-22）。接種流程與醫療判斷以疾管署公告及學校衛生室通知為準。</a:t>
            </a:r>
          </a:p>
          <a:p>
            <a:r>
              <a:t>講法：先問學生「去年打過為什麼今年還要打」，再帶到病毒株每年更新。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【來源】疾管署 115/8/25「115 年度公費流感及新冠疫苗 10/1 開打」新聞稿；疾管署 114/9/9「114 年度公費流感疫苗即將於 10 月 1 日開打」新聞稿；gov.tw 115 年公費流感／新冠疫苗 Q&amp;A（查核日 2026-09-22）。接種流程與醫療判斷以疾管署公告及學校衛生室通知為準。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【來源】疾管署 115/8/25「115 年度公費流感及新冠疫苗 10/1 開打」新聞稿；疾管署 114/9/9「114 年度公費流感疫苗即將於 10 月 1 日開打」新聞稿；gov.tw 115 年公費流感／新冠疫苗 Q&amp;A（查核日 2026-09-22）。接種流程與醫療判斷以疾管署公告及學校衛生室通知為準。</a:t>
            </a:r>
          </a:p>
          <a:p>
            <a:r>
              <a:t>表格逐列講：先講數字（劑數），再講株別，最後講跟學生有關的兩列。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【來源】疾管署 115/8/25「115 年度公費流感及新冠疫苗 10/1 開打」新聞稿；疾管署 114/9/9「114 年度公費流感疫苗即將於 10 月 1 日開打」新聞稿；gov.tw 115 年公費流感／新冠疫苗 Q&amp;A（查核日 2026-09-22）。接種流程與醫療判斷以疾管署公告及學校衛生室通知為準。</a:t>
            </a:r>
          </a:p>
          <a:p>
            <a:r>
              <a:t>提醒：意願書截止日由學校訂，逾期就不能在校園場次打。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【來源】疾管署 115/8/25「115 年度公費流感及新冠疫苗 10/1 開打」新聞稿；疾管署 114/9/9「114 年度公費流感疫苗即將於 10 月 1 日開打」新聞稿；gov.tw 115 年公費流感／新冠疫苗 Q&amp;A（查核日 2026-09-22）。接種流程與醫療判斷以疾管署公告及學校衛生室通知為準。</a:t>
            </a:r>
          </a:p>
          <a:p>
            <a:r>
              <a:t>不診斷：老師只負責提醒學生「有這些情況要說」，不替學生判斷能不能打。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【來源】疾管署 115/8/25「115 年度公費流感及新冠疫苗 10/1 開打」新聞稿；疾管署 114/9/9「114 年度公費流感疫苗即將於 10 月 1 日開打」新聞稿；gov.tw 115 年公費流感／新冠疫苗 Q&amp;A（查核日 2026-09-22）。接種流程與醫療判斷以疾管署公告及學校衛生室通知為準。</a:t>
            </a:r>
          </a:p>
          <a:p>
            <a:r>
              <a:t>配「你可以做什麼」：留觀、當天不劇烈運動、不舒服就說。不寫劑量、不比較廠牌。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【來源】疾管署 115/8/25「115 年度公費流感及新冠疫苗 10/1 開打」新聞稿；疾管署 114/9/9「114 年度公費流感疫苗即將於 10 月 1 日開打」新聞稿；gov.tw 115 年公費流感／新冠疫苗 Q&amp;A（查核日 2026-09-22）。接種流程與醫療判斷以疾管署公告及學校衛生室通知為準。</a:t>
            </a:r>
          </a:p>
          <a:p>
            <a:r>
              <a:t>可先讓學生答再揭曉；第 2 問是今年最常被問的。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【來源】疾管署 115/8/25「115 年度公費流感及新冠疫苗 10/1 開打」新聞稿；疾管署 114/9/9「114 年度公費流感疫苗即將於 10 月 1 日開打」新聞稿；gov.tw 115 年公費流感／新冠疫苗 Q&amp;A（查核日 2026-09-22）。接種流程與醫療判斷以疾管署公告及學校衛生室通知為準。</a:t>
            </a:r>
          </a:p>
          <a:p>
            <a:r>
              <a:t>配套：兩份帶走物 PDF 隨 LINE 推播提供。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57EA10-0820-44D8-B464-319BA3ECD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C17A1B8-737F-4D11-BBCC-74F6FFC54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44C680-3FB1-4171-A57F-67540A28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0665-8ADD-44DF-A52F-98BED6E2E402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B83B56-0903-407D-90D3-560A5861D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6CA4DB-5C9B-47CE-A4DA-DE91C509E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606C-0C2B-4A5F-B4A9-228D8F2D56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8983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F66922-FC09-45F2-A28C-17159637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772873-9FA8-4F7C-9950-3BED7B95F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9A14F3-6AED-4A32-811C-C48347537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0665-8ADD-44DF-A52F-98BED6E2E402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D3402F-EC84-4BD7-B157-D467B19FD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80B1B5-B9F2-44BA-BC6C-584E2CAA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606C-0C2B-4A5F-B4A9-228D8F2D56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8908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795C85-4C96-4EFF-B8DE-465A3100F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D07A721-AE6A-4A64-97F0-4AC1473BF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160B85-71F2-41C7-AA4B-DD32908C9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0665-8ADD-44DF-A52F-98BED6E2E402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7E7841-6127-44BE-876A-537AC0B5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AAACE6-8420-4086-AA7C-7C2E8914C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606C-0C2B-4A5F-B4A9-228D8F2D56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7893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C9D5BE-B9C1-4D26-AF1C-E2CE7DF2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42A008-0628-4A73-B2DC-02FECDAB3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5FFFB3A-E7C5-475D-A410-C18B808C9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8C8355-BBC8-42A6-9CC4-549DD668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0665-8ADD-44DF-A52F-98BED6E2E402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85020C-28F5-466F-A858-BC1B89BE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1F6573B-10C2-46F8-90A9-48E3ADC3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606C-0C2B-4A5F-B4A9-228D8F2D56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421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F3963B-2928-4289-BECA-F912AC386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BC9B7C-0702-40E2-BB4E-C1927D862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ACF30C-8789-42DA-9790-7FAE506C7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2C1260C-E934-43D0-9D65-04CC98E82A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E3B5AA8-0649-48D4-A967-CCB444EE5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53A44B1-3FE3-40E6-A638-FCCCEF131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0665-8ADD-44DF-A52F-98BED6E2E402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B94527C-D207-4C57-984E-58F55260C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9044611-AC51-4954-BB57-879CA9FA1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606C-0C2B-4A5F-B4A9-228D8F2D56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4206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6E6B84-BF87-4016-AB4C-82CA8F313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D277C8D-9CBA-4E25-88E7-6F95A1225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0665-8ADD-44DF-A52F-98BED6E2E402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59F6E63-AE2F-4EAD-BB9F-2E2D5488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8FB1F29-5C5B-49A6-8B0D-3FEA83D6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606C-0C2B-4A5F-B4A9-228D8F2D56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4042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E7C0EB8-EE92-427D-B00B-07859407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0665-8ADD-44DF-A52F-98BED6E2E402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C42C53A-D889-44F8-98AE-B9CA31BA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5D890A-45EC-4958-8F52-6B01806A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606C-0C2B-4A5F-B4A9-228D8F2D56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4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59D8DD-4AD4-401C-BC15-293E6E33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C94CFB-093F-4742-BB22-F872311C1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568D877-384A-4370-A132-4B71F8C66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29FB132-8198-4084-8444-C4B821AA4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0665-8ADD-44DF-A52F-98BED6E2E402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4CFF3F2-4E47-4765-B93B-AC5F8C8FC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15D3AE2-8DCD-45E7-9C5C-40FCA437B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606C-0C2B-4A5F-B4A9-228D8F2D56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8142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03DCE6-2959-471C-8AF3-14437890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FA1BBCD-72E9-4845-8C06-08E9B72D23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6699CD7-28AA-4D3B-A2A0-5455B33E5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3E75C03-9176-4F7F-AC99-B7063B24D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0665-8ADD-44DF-A52F-98BED6E2E402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A0EE53-F08E-46D8-A0A4-1FB87748D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390A02C-6276-4A97-9190-B21F8309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606C-0C2B-4A5F-B4A9-228D8F2D56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7157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49B7D4-3C20-4060-B9CC-25B2AD41B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B850A8-702B-4D42-BFA2-B489D1139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58CDC4-CBB1-46AF-B53F-A175D368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0665-8ADD-44DF-A52F-98BED6E2E402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84A7F8-85F2-4E85-8134-692D107A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D1C066-43C0-4D8B-BFA9-041D2CB5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606C-0C2B-4A5F-B4A9-228D8F2D56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7124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33A317E-5491-4BDE-94D8-43BBE4881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6A28FF6-8E2A-453F-97BF-3D2240702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865E98-C534-48F4-AEA3-46A918773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0665-8ADD-44DF-A52F-98BED6E2E402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1F2824-4EA0-464C-B015-CF253D81E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3C451C-A236-4642-BACC-3393EEB04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606C-0C2B-4A5F-B4A9-228D8F2D56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1338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DF7E9D-0018-4E09-8C4C-789E2BAEB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D8308A-F5AF-40D0-8E9F-84CA63AE5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165CCE-B56E-4D0A-A387-A236024B1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80665-8ADD-44DF-A52F-98BED6E2E402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B0B665-366A-4DB7-8167-544D81AD2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1BCE28-53E3-49FA-BA34-A2387491F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606C-0C2B-4A5F-B4A9-228D8F2D56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505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285750"/>
            <a:ext cx="95250" cy="495300"/>
          </a:xfrm>
          <a:prstGeom prst="rect">
            <a:avLst/>
          </a:prstGeom>
          <a:solidFill>
            <a:srgbClr val="F25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09550"/>
            <a:ext cx="7620000" cy="6286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10 月 1 日起，公費流感疫苗校園接種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361950"/>
            <a:ext cx="3619500" cy="3238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r">
              <a:lnSpc>
                <a:spcPct val="130000"/>
              </a:lnSpc>
            </a:pPr>
            <a:r>
              <a:rPr sz="16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課本 UNIT1-3 全球防疫攻略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9525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428750"/>
            <a:ext cx="7048500" cy="5715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高中職學生列</a:t>
            </a:r>
            <a:r>
              <a:rPr sz="32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第一階段</a:t>
            </a:r>
            <a:r>
              <a:rPr sz="32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（10/1 起）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57400"/>
            <a:ext cx="7048500" cy="24765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第一階段　10/1 起：學生、65 歲以上、學齡前幼兒、醫事人員、慢性病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第二階段　11/2 起：50–64 歲無高風險慢性病成人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學生打的是</a:t>
            </a:r>
            <a:r>
              <a:rPr sz="24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流感疫苗</a:t>
            </a: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；新冠疫苗另有對象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4629150"/>
            <a:ext cx="7048500" cy="1143000"/>
          </a:xfrm>
          <a:prstGeom prst="rect">
            <a:avLst/>
          </a:prstGeom>
          <a:solidFill>
            <a:srgbClr val="FFF4E6"/>
          </a:solidFill>
          <a:ln w="57150">
            <a:solidFill>
              <a:srgbClr val="F25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4695825"/>
            <a:ext cx="6781800" cy="10096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華康圓體 Std W7"/>
                <a:ea typeface="華康圓體 Std W7"/>
                <a:cs typeface="華康圓體 Std W7"/>
              </a:rPr>
              <a:t>流感病毒株每年變、保護力會隨時間下降，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華康圓體 Std W7"/>
                <a:ea typeface="華康圓體 Std W7"/>
                <a:cs typeface="華康圓體 Std W7"/>
              </a:rPr>
              <a:t>所以疫苗株每年更新、每年打一次。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5750" y="1428750"/>
            <a:ext cx="3810000" cy="4343400"/>
          </a:xfrm>
          <a:prstGeom prst="rect">
            <a:avLst/>
          </a:prstGeom>
          <a:solidFill>
            <a:srgbClr val="E8F3E3"/>
          </a:solidFill>
          <a:ln w="57150">
            <a:solidFill>
              <a:srgbClr val="4C8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495425"/>
            <a:ext cx="3543300" cy="421005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華康圓體 Std W7"/>
                <a:ea typeface="華康圓體 Std W7"/>
                <a:cs typeface="華康圓體 Std W7"/>
              </a:rPr>
              <a:t>這幾頁要講三件事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華康圓體 Std W7"/>
                <a:ea typeface="華康圓體 Std W7"/>
                <a:cs typeface="華康圓體 Std W7"/>
              </a:rPr>
              <a:t>① 今年疫苗改了什麼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華康圓體 Std W7"/>
                <a:ea typeface="華康圓體 Std W7"/>
                <a:cs typeface="華康圓體 Std W7"/>
              </a:rPr>
              <a:t>② 接種前、當天、之後要注意什麼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華康圓體 Std W7"/>
                <a:ea typeface="華康圓體 Std W7"/>
                <a:cs typeface="華康圓體 Std W7"/>
              </a:rPr>
              <a:t>③ 哪些同學要先跟老師或護理師說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" y="6419850"/>
            <a:ext cx="11468100" cy="2667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課本 UNIT1-3；疾管署 115/8/25 新聞稿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285750"/>
            <a:ext cx="95250" cy="495300"/>
          </a:xfrm>
          <a:prstGeom prst="rect">
            <a:avLst/>
          </a:prstGeom>
          <a:solidFill>
            <a:srgbClr val="F25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09550"/>
            <a:ext cx="7620000" cy="6286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今年疫苗的三個變化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361950"/>
            <a:ext cx="3619500" cy="3238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r">
              <a:lnSpc>
                <a:spcPct val="130000"/>
              </a:lnSpc>
            </a:pPr>
            <a:r>
              <a:rPr sz="16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課本 UNIT1-3 全球防疫攻略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9525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9600" y="1485900"/>
            <a:ext cx="457200" cy="457200"/>
          </a:xfrm>
          <a:prstGeom prst="ellipse">
            <a:avLst/>
          </a:prstGeom>
          <a:solidFill>
            <a:srgbClr val="F25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1428750"/>
            <a:ext cx="10287000" cy="4191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株別全數更新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250" y="1905000"/>
            <a:ext cx="10287000" cy="4191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三價：A/H1N1、A/H3N2、B/Victoria，與目前社區流行株吻合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2628900"/>
            <a:ext cx="457200" cy="457200"/>
          </a:xfrm>
          <a:prstGeom prst="ellipse">
            <a:avLst/>
          </a:prstGeom>
          <a:solidFill>
            <a:srgbClr val="F25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250" y="2571750"/>
            <a:ext cx="10287000" cy="4191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首度加強型流感疫苗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50" y="3048000"/>
            <a:ext cx="10287000" cy="4191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20 萬 790 劑，亞洲首例；優先提供長照機構 65 歲以上長者，不是學生</a:t>
            </a:r>
          </a:p>
        </p:txBody>
      </p:sp>
      <p:sp>
        <p:nvSpPr>
          <p:cNvPr id="13" name="Oval 12"/>
          <p:cNvSpPr/>
          <p:nvPr/>
        </p:nvSpPr>
        <p:spPr>
          <a:xfrm>
            <a:off x="609600" y="3771900"/>
            <a:ext cx="457200" cy="457200"/>
          </a:xfrm>
          <a:prstGeom prst="ellipse">
            <a:avLst/>
          </a:prstGeom>
          <a:solidFill>
            <a:srgbClr val="F25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50" y="3714750"/>
            <a:ext cx="10287000" cy="4191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新冠疫苗改 XFG 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50" y="4191000"/>
            <a:ext cx="10287000" cy="4191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240 萬劑；高風險對象「左流右新」兩款同時接種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819650"/>
            <a:ext cx="11049000" cy="1066800"/>
          </a:xfrm>
          <a:prstGeom prst="rect">
            <a:avLst/>
          </a:prstGeom>
          <a:solidFill>
            <a:srgbClr val="FFF4E6"/>
          </a:solidFill>
          <a:ln w="57150">
            <a:solidFill>
              <a:srgbClr val="F25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950" y="4886325"/>
            <a:ext cx="10782300" cy="9334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華康圓體 Std W7"/>
                <a:ea typeface="華康圓體 Std W7"/>
                <a:cs typeface="華康圓體 Std W7"/>
              </a:rPr>
              <a:t>流感疫苗共 705 萬 150 劑，歷年首次超過 700 萬；18 歲以上接種可累積健康幣（10 月上路）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" y="6419850"/>
            <a:ext cx="11468100" cy="2667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疾管署 115/8/25 新聞稿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285750"/>
            <a:ext cx="95250" cy="495300"/>
          </a:xfrm>
          <a:prstGeom prst="rect">
            <a:avLst/>
          </a:prstGeom>
          <a:solidFill>
            <a:srgbClr val="F25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09550"/>
            <a:ext cx="7620000" cy="6286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114 年到 115 年，改了什麼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361950"/>
            <a:ext cx="3619500" cy="3238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r">
              <a:lnSpc>
                <a:spcPct val="130000"/>
              </a:lnSpc>
            </a:pPr>
            <a:r>
              <a:rPr sz="16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課本 UNIT1-3 全球防疫攻略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9525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428750"/>
            <a:ext cx="2857500" cy="533400"/>
          </a:xfrm>
          <a:prstGeom prst="rect">
            <a:avLst/>
          </a:prstGeom>
          <a:solidFill>
            <a:srgbClr val="4C853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28750"/>
            <a:ext cx="27051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7100" y="1428750"/>
            <a:ext cx="4000500" cy="533400"/>
          </a:xfrm>
          <a:prstGeom prst="rect">
            <a:avLst/>
          </a:prstGeom>
          <a:solidFill>
            <a:srgbClr val="4C853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3300" y="1428750"/>
            <a:ext cx="38481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114 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67600" y="1428750"/>
            <a:ext cx="4191000" cy="533400"/>
          </a:xfrm>
          <a:prstGeom prst="rect">
            <a:avLst/>
          </a:prstGeom>
          <a:solidFill>
            <a:srgbClr val="4C853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428750"/>
            <a:ext cx="40386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115 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962150"/>
            <a:ext cx="2857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62150"/>
            <a:ext cx="27051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流感疫苗劑數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67100" y="1962150"/>
            <a:ext cx="4000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3300" y="1962150"/>
            <a:ext cx="38481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686 萬 4,910 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67600" y="1962150"/>
            <a:ext cx="4191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962150"/>
            <a:ext cx="40386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705 萬 150 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2495550"/>
            <a:ext cx="2857500" cy="533400"/>
          </a:xfrm>
          <a:prstGeom prst="rect">
            <a:avLst/>
          </a:prstGeom>
          <a:solidFill>
            <a:srgbClr val="FFF4E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495550"/>
            <a:ext cx="27051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三價株別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67100" y="2495550"/>
            <a:ext cx="4000500" cy="533400"/>
          </a:xfrm>
          <a:prstGeom prst="rect">
            <a:avLst/>
          </a:prstGeom>
          <a:solidFill>
            <a:srgbClr val="FFF4E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3300" y="2495550"/>
            <a:ext cx="38481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首年由四價改三價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67600" y="2495550"/>
            <a:ext cx="4191000" cy="533400"/>
          </a:xfrm>
          <a:prstGeom prst="rect">
            <a:avLst/>
          </a:prstGeom>
          <a:solidFill>
            <a:srgbClr val="FFF4E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495550"/>
            <a:ext cx="40386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三株全數更新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028950"/>
            <a:ext cx="2857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028950"/>
            <a:ext cx="27051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加強型流感疫苗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67100" y="3028950"/>
            <a:ext cx="4000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3300" y="3028950"/>
            <a:ext cx="38481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67600" y="3028950"/>
            <a:ext cx="4191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3028950"/>
            <a:ext cx="40386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20 萬 790 劑（首度）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3562350"/>
            <a:ext cx="2857500" cy="533400"/>
          </a:xfrm>
          <a:prstGeom prst="rect">
            <a:avLst/>
          </a:prstGeom>
          <a:solidFill>
            <a:srgbClr val="FFF4E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562350"/>
            <a:ext cx="27051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新冠疫苗株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67100" y="3562350"/>
            <a:ext cx="4000500" cy="533400"/>
          </a:xfrm>
          <a:prstGeom prst="rect">
            <a:avLst/>
          </a:prstGeom>
          <a:solidFill>
            <a:srgbClr val="FFF4E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3300" y="3562350"/>
            <a:ext cx="38481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公告未列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67600" y="3562350"/>
            <a:ext cx="4191000" cy="533400"/>
          </a:xfrm>
          <a:prstGeom prst="rect">
            <a:avLst/>
          </a:prstGeom>
          <a:solidFill>
            <a:srgbClr val="FFF4E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3562350"/>
            <a:ext cx="40386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XFG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4095750"/>
            <a:ext cx="2857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095750"/>
            <a:ext cx="27051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學生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67100" y="4095750"/>
            <a:ext cx="4000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43300" y="4095750"/>
            <a:ext cx="38481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校園集中接種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67600" y="4095750"/>
            <a:ext cx="4191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4095750"/>
            <a:ext cx="40386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第一階段 10/1，僅流感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4629150"/>
            <a:ext cx="2857500" cy="533400"/>
          </a:xfrm>
          <a:prstGeom prst="rect">
            <a:avLst/>
          </a:prstGeom>
          <a:solidFill>
            <a:srgbClr val="FFF4E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629150"/>
            <a:ext cx="27051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家長意願書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67100" y="4629150"/>
            <a:ext cx="4000500" cy="533400"/>
          </a:xfrm>
          <a:prstGeom prst="rect">
            <a:avLst/>
          </a:prstGeom>
          <a:solidFill>
            <a:srgbClr val="FFF4E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43300" y="4629150"/>
            <a:ext cx="38481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NIAS 線上簽署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67600" y="4629150"/>
            <a:ext cx="4191000" cy="533400"/>
          </a:xfrm>
          <a:prstGeom prst="rect">
            <a:avLst/>
          </a:prstGeom>
          <a:solidFill>
            <a:srgbClr val="FFF4E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4629150"/>
            <a:ext cx="4038600" cy="5334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依學校通知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950" y="6419850"/>
            <a:ext cx="11468100" cy="2667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疾管署 114/9/9、115/8/25 新聞稿整理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285750"/>
            <a:ext cx="95250" cy="495300"/>
          </a:xfrm>
          <a:prstGeom prst="rect">
            <a:avLst/>
          </a:prstGeom>
          <a:solidFill>
            <a:srgbClr val="F25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09550"/>
            <a:ext cx="7620000" cy="6286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校園接種怎麼進行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361950"/>
            <a:ext cx="3619500" cy="3238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r">
              <a:lnSpc>
                <a:spcPct val="130000"/>
              </a:lnSpc>
            </a:pPr>
            <a:r>
              <a:rPr sz="16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課本 UNIT1-3 全球防疫攻略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9525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619250"/>
            <a:ext cx="2571750" cy="857250"/>
          </a:xfrm>
          <a:prstGeom prst="rect">
            <a:avLst/>
          </a:prstGeom>
          <a:solidFill>
            <a:srgbClr val="4C8537"/>
          </a:solidFill>
          <a:ln w="57150">
            <a:solidFill>
              <a:srgbClr val="4C8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" y="1685925"/>
            <a:ext cx="2305050" cy="7239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華康圓體 Std W7"/>
                <a:ea typeface="華康圓體 Std W7"/>
                <a:cs typeface="華康圓體 Std W7"/>
              </a:rPr>
              <a:t>學校通知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571750"/>
            <a:ext cx="2571750" cy="13335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接種日期、地點、廠牌隨機安排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1350" y="1809750"/>
            <a:ext cx="285750" cy="47625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25821"/>
                </a:solidFill>
                <a:latin typeface="微軟正黑體"/>
                <a:ea typeface="微軟正黑體"/>
                <a:cs typeface="微軟正黑體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7100" y="1619250"/>
            <a:ext cx="2571750" cy="857250"/>
          </a:xfrm>
          <a:prstGeom prst="rect">
            <a:avLst/>
          </a:prstGeom>
          <a:solidFill>
            <a:srgbClr val="4C8537"/>
          </a:solidFill>
          <a:ln w="57150">
            <a:solidFill>
              <a:srgbClr val="4C8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450" y="1685925"/>
            <a:ext cx="2305050" cy="7239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華康圓體 Std W7"/>
                <a:ea typeface="華康圓體 Std W7"/>
                <a:cs typeface="華康圓體 Std W7"/>
              </a:rPr>
              <a:t>家長簽意願書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7100" y="2571750"/>
            <a:ext cx="2571750" cy="13335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掃學校 QR code，NIAS 線上簽署；截止前可更新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8850" y="1809750"/>
            <a:ext cx="285750" cy="47625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25821"/>
                </a:solidFill>
                <a:latin typeface="微軟正黑體"/>
                <a:ea typeface="微軟正黑體"/>
                <a:cs typeface="微軟正黑體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4600" y="1619250"/>
            <a:ext cx="2571750" cy="857250"/>
          </a:xfrm>
          <a:prstGeom prst="rect">
            <a:avLst/>
          </a:prstGeom>
          <a:solidFill>
            <a:srgbClr val="4C8537"/>
          </a:solidFill>
          <a:ln w="57150">
            <a:solidFill>
              <a:srgbClr val="4C8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7950" y="1685925"/>
            <a:ext cx="2305050" cy="7239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華康圓體 Std W7"/>
                <a:ea typeface="華康圓體 Std W7"/>
                <a:cs typeface="華康圓體 Std W7"/>
              </a:rPr>
              <a:t>接種當天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600" y="2571750"/>
            <a:ext cx="2571750" cy="13335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帶健保卡；先量體溫、填評估表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6350" y="1809750"/>
            <a:ext cx="285750" cy="47625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25821"/>
                </a:solidFill>
                <a:latin typeface="微軟正黑體"/>
                <a:ea typeface="微軟正黑體"/>
                <a:cs typeface="微軟正黑體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2100" y="1619250"/>
            <a:ext cx="2571750" cy="857250"/>
          </a:xfrm>
          <a:prstGeom prst="rect">
            <a:avLst/>
          </a:prstGeom>
          <a:solidFill>
            <a:srgbClr val="4C8537"/>
          </a:solidFill>
          <a:ln w="57150">
            <a:solidFill>
              <a:srgbClr val="4C8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5450" y="1685925"/>
            <a:ext cx="2305050" cy="72390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華康圓體 Std W7"/>
                <a:ea typeface="華康圓體 Std W7"/>
                <a:cs typeface="華康圓體 Std W7"/>
              </a:rPr>
              <a:t>接種後留觀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2100" y="2571750"/>
            <a:ext cx="2571750" cy="13335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至少 30 分鐘；有不舒服馬上說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4286250"/>
            <a:ext cx="11049000" cy="1143000"/>
          </a:xfrm>
          <a:prstGeom prst="rect">
            <a:avLst/>
          </a:prstGeom>
          <a:solidFill>
            <a:srgbClr val="FFF4E6"/>
          </a:solidFill>
          <a:ln w="57150">
            <a:solidFill>
              <a:srgbClr val="F25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950" y="4352925"/>
            <a:ext cx="10782300" cy="10096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華康圓體 Std W7"/>
                <a:ea typeface="華康圓體 Std W7"/>
                <a:cs typeface="華康圓體 Std W7"/>
              </a:rPr>
              <a:t>114 年起家長改線上簽署（疫苗接種行政電子化系統 NIAS），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華康圓體 Std W7"/>
                <a:ea typeface="華康圓體 Std W7"/>
                <a:cs typeface="華康圓體 Std W7"/>
              </a:rPr>
              <a:t>115 年公告未另述流程，一律以學校衛生室通知為準。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950" y="6419850"/>
            <a:ext cx="11468100" cy="2667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疾管署 114/9/9 新聞稿；學校衛生室通知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285750"/>
            <a:ext cx="95250" cy="495300"/>
          </a:xfrm>
          <a:prstGeom prst="rect">
            <a:avLst/>
          </a:prstGeom>
          <a:solidFill>
            <a:srgbClr val="F25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09550"/>
            <a:ext cx="7620000" cy="6286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接種前，這些同學要先跟護理師說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361950"/>
            <a:ext cx="3619500" cy="3238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r">
              <a:lnSpc>
                <a:spcPct val="130000"/>
              </a:lnSpc>
            </a:pPr>
            <a:r>
              <a:rPr sz="16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課本 UNIT1-3 全球防疫攻略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9525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428750"/>
            <a:ext cx="11049000" cy="4191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填評估表時如實勾選，護理師會判斷能不能打、要不要改天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000250"/>
            <a:ext cx="5334000" cy="571500"/>
          </a:xfrm>
          <a:prstGeom prst="rect">
            <a:avLst/>
          </a:prstGeom>
          <a:solidFill>
            <a:srgbClr val="F25821"/>
          </a:solidFill>
          <a:ln w="57150">
            <a:solidFill>
              <a:srgbClr val="F25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950" y="2066925"/>
            <a:ext cx="5067300" cy="4381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華康圓體 Std W7"/>
                <a:ea typeface="華康圓體 Std W7"/>
                <a:cs typeface="華康圓體 Std W7"/>
              </a:rPr>
              <a:t>建議延後或由醫師評估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600" y="2000250"/>
            <a:ext cx="5334000" cy="571500"/>
          </a:xfrm>
          <a:prstGeom prst="rect">
            <a:avLst/>
          </a:prstGeom>
          <a:solidFill>
            <a:srgbClr val="4C8537"/>
          </a:solidFill>
          <a:ln w="57150">
            <a:solidFill>
              <a:srgbClr val="4C8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7950" y="2066925"/>
            <a:ext cx="5067300" cy="4381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華康圓體 Std W7"/>
                <a:ea typeface="華康圓體 Std W7"/>
                <a:cs typeface="華康圓體 Std W7"/>
              </a:rPr>
              <a:t>可以打，但要先告知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724150"/>
            <a:ext cx="4953000" cy="28575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・發燒或急性中重度疾病，正在生病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・以前打流感疫苗曾嚴重過敏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・對疫苗成分嚴重過敏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・六週內曾有格林巴利症候群（GBS）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2724150"/>
            <a:ext cx="4953000" cy="28575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・正在吃藥或有慢性病（要說明）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・剛打過其他疫苗（告知日期）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・曾經接種後暈針、昏倒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・懷孕或可能懷孕（可打，但要告知）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5676900"/>
            <a:ext cx="11049000" cy="533400"/>
          </a:xfrm>
          <a:prstGeom prst="rect">
            <a:avLst/>
          </a:prstGeom>
          <a:noFill/>
          <a:ln w="571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5743575"/>
            <a:ext cx="10782300" cy="4000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7F7F7F"/>
                </a:solidFill>
                <a:latin typeface="華康圓體 Std W7"/>
                <a:ea typeface="華康圓體 Std W7"/>
                <a:cs typeface="華康圓體 Std W7"/>
              </a:rPr>
              <a:t>以上為疾管署流感疫苗接種須知的通則；個別情況以現場護理師與醫師判斷為準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" y="6419850"/>
            <a:ext cx="11468100" cy="2667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疾管署 流感疫苗接種須知（通則）；現場以醫護判斷為準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285750"/>
            <a:ext cx="95250" cy="495300"/>
          </a:xfrm>
          <a:prstGeom prst="rect">
            <a:avLst/>
          </a:prstGeom>
          <a:solidFill>
            <a:srgbClr val="F25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09550"/>
            <a:ext cx="7620000" cy="6286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打完之後：正常反應與要就醫的情況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361950"/>
            <a:ext cx="3619500" cy="3238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r">
              <a:lnSpc>
                <a:spcPct val="130000"/>
              </a:lnSpc>
            </a:pPr>
            <a:r>
              <a:rPr sz="16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課本 UNIT1-3 全球防疫攻略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9525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524000"/>
            <a:ext cx="5334000" cy="571500"/>
          </a:xfrm>
          <a:prstGeom prst="rect">
            <a:avLst/>
          </a:prstGeom>
          <a:solidFill>
            <a:srgbClr val="4C8537"/>
          </a:solidFill>
          <a:ln w="57150">
            <a:solidFill>
              <a:srgbClr val="4C8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" y="1590675"/>
            <a:ext cx="5067300" cy="4381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華康圓體 Std W7"/>
                <a:ea typeface="華康圓體 Std W7"/>
                <a:cs typeface="華康圓體 Std W7"/>
              </a:rPr>
              <a:t>常見、通常 1–2 天內消退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247900"/>
            <a:ext cx="4953000" cy="20955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・注射部位紅、腫、痛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・輕微發燒、頭痛、肌肉酸痛、疲倦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・當天不劇烈運動、多喝水、充足睡眠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600" y="1524000"/>
            <a:ext cx="5334000" cy="571500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7950" y="1590675"/>
            <a:ext cx="5067300" cy="4381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華康圓體 Std W7"/>
                <a:ea typeface="華康圓體 Std W7"/>
                <a:cs typeface="華康圓體 Std W7"/>
              </a:rPr>
              <a:t>立即告知老師並就醫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2247900"/>
            <a:ext cx="4953000" cy="20955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・呼吸困難、氣喘、眩暈、心跳加速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・全身性皮疹、嘴唇或眼睛腫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・持續高燒或症狀超過兩天未改善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4552950"/>
            <a:ext cx="11049000" cy="1181100"/>
          </a:xfrm>
          <a:prstGeom prst="rect">
            <a:avLst/>
          </a:prstGeom>
          <a:solidFill>
            <a:srgbClr val="FFF4E6"/>
          </a:solidFill>
          <a:ln w="57150">
            <a:solidFill>
              <a:srgbClr val="F25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4619625"/>
            <a:ext cx="10782300" cy="10477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華康圓體 Std W7"/>
                <a:ea typeface="華康圓體 Std W7"/>
                <a:cs typeface="華康圓體 Std W7"/>
              </a:rPr>
              <a:t>留觀 30 分鐘是為了抓住少數急性過敏反應。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華康圓體 Std W7"/>
                <a:ea typeface="華康圓體 Std W7"/>
                <a:cs typeface="華康圓體 Std W7"/>
              </a:rPr>
              <a:t>接種後 48 小時內若有嚴重不適，請學校衛生室協助通報。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" y="6419850"/>
            <a:ext cx="11468100" cy="2667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疾管署 流感疫苗接種後注意事項（通則）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285750"/>
            <a:ext cx="95250" cy="495300"/>
          </a:xfrm>
          <a:prstGeom prst="rect">
            <a:avLst/>
          </a:prstGeom>
          <a:solidFill>
            <a:srgbClr val="F25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09550"/>
            <a:ext cx="7620000" cy="6286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課堂三問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361950"/>
            <a:ext cx="3619500" cy="3238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r">
              <a:lnSpc>
                <a:spcPct val="130000"/>
              </a:lnSpc>
            </a:pPr>
            <a:r>
              <a:rPr sz="16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課本 UNIT1-3 全球防疫攻略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9525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9600" y="1562100"/>
            <a:ext cx="457200" cy="457200"/>
          </a:xfrm>
          <a:prstGeom prst="ellipse">
            <a:avLst/>
          </a:prstGeom>
          <a:solidFill>
            <a:srgbClr val="F25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1524000"/>
            <a:ext cx="10382250" cy="4191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為什麼去年打過，今年還要打？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250" y="2019300"/>
            <a:ext cx="10382250" cy="4191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病毒株每年變，疫苗株跟著更新；保護力也會隨時間下降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2800350"/>
            <a:ext cx="457200" cy="457200"/>
          </a:xfrm>
          <a:prstGeom prst="ellipse">
            <a:avLst/>
          </a:prstGeom>
          <a:solidFill>
            <a:srgbClr val="F25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250" y="2762250"/>
            <a:ext cx="10382250" cy="4191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學生為什麼只打流感、不打新冠？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50" y="3257550"/>
            <a:ext cx="10382250" cy="4191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新冠疫苗 115 年第一階段對象不含一般學生，依風險分配</a:t>
            </a:r>
          </a:p>
        </p:txBody>
      </p:sp>
      <p:sp>
        <p:nvSpPr>
          <p:cNvPr id="13" name="Oval 12"/>
          <p:cNvSpPr/>
          <p:nvPr/>
        </p:nvSpPr>
        <p:spPr>
          <a:xfrm>
            <a:off x="609600" y="4038600"/>
            <a:ext cx="457200" cy="457200"/>
          </a:xfrm>
          <a:prstGeom prst="ellipse">
            <a:avLst/>
          </a:prstGeom>
          <a:solidFill>
            <a:srgbClr val="F25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50" y="4000500"/>
            <a:ext cx="10382250" cy="4191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為什麼打完要坐 30 分鐘？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50" y="4495800"/>
            <a:ext cx="10382250" cy="4191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少數急性過敏反應多在 30 分鐘內出現，留觀才來得及處理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" y="6419850"/>
            <a:ext cx="11468100" cy="2667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課本 UNIT1-3；疾管署 115/8/25 新聞稿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285750"/>
            <a:ext cx="95250" cy="495300"/>
          </a:xfrm>
          <a:prstGeom prst="rect">
            <a:avLst/>
          </a:prstGeom>
          <a:solidFill>
            <a:srgbClr val="F25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09550"/>
            <a:ext cx="7620000" cy="6286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回到課本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361950"/>
            <a:ext cx="3619500" cy="3238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r">
              <a:lnSpc>
                <a:spcPct val="130000"/>
              </a:lnSpc>
            </a:pPr>
            <a:r>
              <a:rPr sz="16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課本 UNIT1-3 全球防疫攻略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952500"/>
            <a:ext cx="1143000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619250"/>
            <a:ext cx="11049000" cy="5715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課本 UNIT1-3 全球防疫攻略：疫苗是群體免疫的第一道防線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81250"/>
            <a:ext cx="11049000" cy="19050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・疫苗株每年更新的原因：病毒變異與 WHO 建議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・校園集中接種的意義：提高接種率、保護不能接種的人</a:t>
            </a:r>
          </a:p>
          <a:p>
            <a:pPr algn="l">
              <a:lnSpc>
                <a:spcPct val="150000"/>
              </a:lnSpc>
            </a:pPr>
            <a:r>
              <a:rPr sz="240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・接種前後注意事項：如實告知、留觀 30 分鐘、不劇烈運動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4533900"/>
            <a:ext cx="11049000" cy="1066800"/>
          </a:xfrm>
          <a:prstGeom prst="rect">
            <a:avLst/>
          </a:prstGeom>
          <a:solidFill>
            <a:srgbClr val="E8F3E3"/>
          </a:solidFill>
          <a:ln w="57150">
            <a:solidFill>
              <a:srgbClr val="4C8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4600575"/>
            <a:ext cx="10782300" cy="933450"/>
          </a:xfrm>
          <a:prstGeom prst="rect">
            <a:avLst/>
          </a:prstGeom>
          <a:noFill/>
        </p:spPr>
        <p:txBody>
          <a:bodyPr wrap="square" anchor="ctr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華康圓體 Std W7"/>
                <a:ea typeface="華康圓體 Std W7"/>
                <a:cs typeface="華康圓體 Std W7"/>
              </a:rPr>
              <a:t>老師可搭配兩份帶走物：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000000"/>
                </a:solidFill>
                <a:latin typeface="華康圓體 Std W7"/>
                <a:ea typeface="華康圓體 Std W7"/>
                <a:cs typeface="華康圓體 Std W7"/>
              </a:rPr>
              <a:t>114→115 疫苗新舊對照表（一頁）、班級接種檢核表（導師用）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6419850"/>
            <a:ext cx="11468100" cy="266700"/>
          </a:xfrm>
          <a:prstGeom prst="rect">
            <a:avLst/>
          </a:prstGeom>
          <a:noFill/>
        </p:spPr>
        <p:txBody>
          <a:bodyPr wrap="square" anchor="t" lIns="38100" rIns="38100" tIns="19050" bIns="1905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7F7F7F"/>
                </a:solidFill>
                <a:latin typeface="微軟正黑體"/>
                <a:ea typeface="微軟正黑體"/>
                <a:cs typeface="微軟正黑體"/>
              </a:rPr>
              <a:t>泰宇《健康與護理》全冊 9974 UNIT1-3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2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EC9F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14732</TotalTime>
  <Words>4365</Words>
  <Application>Microsoft Office PowerPoint</Application>
  <PresentationFormat>寬螢幕</PresentationFormat>
  <Paragraphs>742</Paragraphs>
  <Slides>74</Slides>
  <Notes>49</Notes>
  <HiddenSlides>0</HiddenSlides>
  <MMClips>1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74</vt:i4>
      </vt:variant>
    </vt:vector>
  </HeadingPairs>
  <TitlesOfParts>
    <vt:vector size="85" baseType="lpstr">
      <vt:lpstr>jf open 粉圓 2.0</vt:lpstr>
      <vt:lpstr>Quicksand Book</vt:lpstr>
      <vt:lpstr>華康少女文字W3(P)</vt:lpstr>
      <vt:lpstr>華康方圓體 Std W7</vt:lpstr>
      <vt:lpstr>華康平劇體 Std W7</vt:lpstr>
      <vt:lpstr>華康圓體</vt:lpstr>
      <vt:lpstr>Microsoft JhengHei</vt:lpstr>
      <vt:lpstr>Arial</vt:lpstr>
      <vt:lpstr>Calibri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yu</dc:creator>
  <cp:lastModifiedBy>品策部 聖元</cp:lastModifiedBy>
  <cp:revision>447</cp:revision>
  <dcterms:created xsi:type="dcterms:W3CDTF">2025-08-30T05:41:00Z</dcterms:created>
  <dcterms:modified xsi:type="dcterms:W3CDTF">2026-08-04T05:36:45Z</dcterms:modified>
</cp:coreProperties>
</file>