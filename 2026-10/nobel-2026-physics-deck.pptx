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8"/>
    <p:sldId id="257" r:id="rId9"/>
    <p:sldId id="258" r:id="rId10"/>
    <p:sldId id="259" r:id="rId11"/>
    <p:sldId id="260" r:id="rId12"/>
    <p:sldId id="261" r:id="rId13"/>
    <p:sldId id="262" r:id="rId14"/>
    <p:sldId id="263" r:id="rId15"/>
    <p:sldId id="264"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泰宇 林" initials="泰林" lastIdx="2" clrIdx="0">
    <p:extLst>
      <p:ext uri="{19B8F6BF-5375-455C-9EA6-DF929625EA0E}">
        <p15:presenceInfo xmlns:p15="http://schemas.microsoft.com/office/powerpoint/2012/main" userId="0ad46010253d828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6E5"/>
    <a:srgbClr val="FFC000"/>
    <a:srgbClr val="FFF2CC"/>
    <a:srgbClr val="FFF6DA"/>
    <a:srgbClr val="FAA618"/>
    <a:srgbClr val="FFFFFF"/>
    <a:srgbClr val="D99325"/>
    <a:srgbClr val="EEC9FF"/>
    <a:srgbClr val="E4AD4C"/>
    <a:srgbClr val="E7BC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86465" autoAdjust="0"/>
  </p:normalViewPr>
  <p:slideViewPr>
    <p:cSldViewPr snapToGrid="0">
      <p:cViewPr>
        <p:scale>
          <a:sx n="75" d="100"/>
          <a:sy n="75" d="100"/>
        </p:scale>
        <p:origin x="2172" y="59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3" d="100"/>
        <a:sy n="93" d="100"/>
      </p:scale>
      <p:origin x="0" y="-1279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76" Type="http://schemas.openxmlformats.org/officeDocument/2006/relationships/notesMaster" Target="notesMasters/notes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CFE33-C5E4-45AE-8B15-97DC1300BB24}" type="datetimeFigureOut">
              <a:rPr lang="zh-TW" altLang="en-US" smtClean="0"/>
              <a:t>2026/8/4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01EEF2-5A56-4343-A5B2-5EAB4EE77C0B}" type="slidenum">
              <a:rPr lang="zh-TW" altLang="en-US" smtClean="0"/>
              <a:t>‹#›</a:t>
            </a:fld>
            <a:endParaRPr lang="zh-TW" altLang="en-US"/>
          </a:p>
        </p:txBody>
      </p:sp>
    </p:spTree>
    <p:extLst>
      <p:ext uri="{BB962C8B-B14F-4D97-AF65-F5344CB8AC3E}">
        <p14:creationId xmlns:p14="http://schemas.microsoft.com/office/powerpoint/2010/main" val="201090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官方理由原文：for decisive contributions to the IceCube Neutrino Observatory and the discovery of high-energy neutrinos of astrophysical origin</a:t>
            </a:r>
          </a:p>
          <a:p>
            <a:r>
              <a:t>【來源】Press release: The Nobel Prize in Physics 2026 — NobelPrize.org https://www.nobelprize.org/prizes/physics/2026/press-release/；All Nobel Prizes 2026 overview — NobelPrize.org https://www.nobelprize.org/all-nobel-prizes-2026/（查核 2026-10-06）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The Nobel Prize in Physics 2026 — NobelPrize.org https://www.nobelprize.org/prizes/physics/2026/press-release/；All Nobel Prizes 2026 overview — NobelPrize.org https://www.nobelprize.org/all-nobel-prizes-2026/（查核 2026-10-06）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The Nobel Prize in Physics 2026 — NobelPrize.org https://www.nobelprize.org/prizes/physics/2026/press-release/；All Nobel Prizes 2026 overview — NobelPrize.org https://www.nobelprize.org/all-nobel-prizes-2026/（查核 2026-10-06）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The Nobel Prize in Physics 2026 — NobelPrize.org https://www.nobelprize.org/prizes/physics/2026/press-release/；All Nobel Prizes 2026 overview — NobelPrize.org https://www.nobelprize.org/all-nobel-prizes-2026/（查核 2026-10-06）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The Nobel Prize in Physics 2026 — NobelPrize.org https://www.nobelprize.org/prizes/physics/2026/press-release/；All Nobel Prizes 2026 overview — NobelPrize.org https://www.nobelprize.org/all-nobel-prizes-2026/（查核 2026-10-06）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The Nobel Prize in Physics 2026 — NobelPrize.org https://www.nobelprize.org/prizes/physics/2026/press-release/；All Nobel Prizes 2026 overview — NobelPrize.org https://www.nobelprize.org/all-nobel-prizes-2026/（查核 2026-10-06）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參考答案：1.B；2.C；3.β 衰變若只射出電子，實驗測到的能量與動量比預期少，看似違反守恆律。Pauli 為維護守恆，假設還有一種看不見、不帶電的粒子帶走失蹤的能量，這就是後來的微中子。；4.微中子只參與弱交互作用，幾乎不會被物質攔截，絕大多數會直接穿透過去。要在合理時間內累積足夠的碰撞事件，必須提供極大量的透明介質，所以才需要體積達一立方公里的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單靠亮度無法指出光是從哪個方向、何時到達。多個感測器記錄不同時刻、不同位置的訊號，才能三維重建帶電粒子的運動軌跡，據此回推微中子的方向與能量。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【來源】Press release: The Nobel Prize in Physics 2026 — NobelPrize.org https://www.nobelprize.org/prizes/physics/2026/press-release/；All Nobel Prizes 2026 overview — NobelPrize.org https://www.nobelprize.org/all-nobel-prizes-2026/（查核 2026-10-06）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57EA10-0820-44D8-B464-319BA3ECD21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C17A1B8-737F-4D11-BBCC-74F6FFC54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3844C680-3FB1-4171-A57F-67540A2808FF}"/>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F6B83B56-0903-407D-90D3-560A5861DA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F6CA4DB-5C9B-47CE-A4DA-DE91C509E722}"/>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788983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F66922-FC09-45F2-A28C-17159637590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F772873-9FA8-4F7C-9950-3BED7B95F789}"/>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49A14F3-6AED-4A32-811C-C48347537447}"/>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BED3402F-EC84-4BD7-B157-D467B19FD1A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B80B1B5-B9F2-44BA-BC6C-584E2CAAC1B6}"/>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308908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795C85-4C96-4EFF-B8DE-465A3100F7A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D07A721-AE6A-4A64-97F0-4AC1473BFB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0A160B85-71F2-41C7-AA4B-DD32908C9DEC}"/>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557E7841-6127-44BE-876A-537AC0B5DE6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3AAACE6-8420-4086-AA7C-7C2E8914CE63}"/>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1977893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9D5BE-B9C1-4D26-AF1C-E2CE7DF29FA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442A008-0628-4A73-B2DC-02FECDAB386D}"/>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FFFB3A-E7C5-475D-A410-C18B808C9675}"/>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C8C8355-BBC8-42A6-9CC4-549DD6680FB2}"/>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AE85020C-28F5-466F-A858-BC1B89BEEB6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1F6573B-10C2-46F8-90A9-48E3ADC3A87C}"/>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3624218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F3963B-2928-4289-BECA-F912AC386FE4}"/>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BC9B7C-0702-40E2-BB4E-C1927D8622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FEACF30C-8789-42DA-9790-7FAE506C7658}"/>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2C1260C-E934-43D0-9D65-04CC98E82A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0E3B5AA8-0649-48D4-A967-CCB444EE5DA9}"/>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53A44B1-3FE3-40E6-A638-FCCCEF1315DC}"/>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8" name="頁尾版面配置區 7">
            <a:extLst>
              <a:ext uri="{FF2B5EF4-FFF2-40B4-BE49-F238E27FC236}">
                <a16:creationId xmlns:a16="http://schemas.microsoft.com/office/drawing/2014/main" id="{EB94527C-D207-4C57-984E-58F55260C7C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044611-AC51-4954-BB57-879CA9FA1282}"/>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3524206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6E6B84-BF87-4016-AB4C-82CA8F313ED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D277C8D-9CBA-4E25-88E7-6F95A1225A13}"/>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4" name="頁尾版面配置區 3">
            <a:extLst>
              <a:ext uri="{FF2B5EF4-FFF2-40B4-BE49-F238E27FC236}">
                <a16:creationId xmlns:a16="http://schemas.microsoft.com/office/drawing/2014/main" id="{159F6E63-AE2F-4EAD-BB9F-2E2D5488D2D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8FB1F29-5C5B-49A6-8B0D-3FEA83D6DF23}"/>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254042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E7C0EB8-EE92-427D-B00B-078594075C8B}"/>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3" name="頁尾版面配置區 2">
            <a:extLst>
              <a:ext uri="{FF2B5EF4-FFF2-40B4-BE49-F238E27FC236}">
                <a16:creationId xmlns:a16="http://schemas.microsoft.com/office/drawing/2014/main" id="{6C42C53A-D889-44F8-98AE-B9CA31BA5D1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05D890A-45EC-4958-8F52-6B01806A4BAC}"/>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41514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59D8DD-4AD4-401C-BC15-293E6E33369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AC94CFB-093F-4742-BB22-F872311C1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568D877-384A-4370-A132-4B71F8C66C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D29FB132-8198-4084-8444-C4B821AA4919}"/>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54CFF3F2-4E47-4765-B93B-AC5F8C8FC55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15D3AE2-8DCD-45E7-9C5C-40FCA437B2EF}"/>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778142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3DCE6-2959-471C-8AF3-14437890ACE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FA1BBCD-72E9-4845-8C06-08E9B72D23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E6699CD7-28AA-4D3B-A2A0-5455B33E5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53E75C03-9176-4F7F-AC99-B7063B24DC1B}"/>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6" name="頁尾版面配置區 5">
            <a:extLst>
              <a:ext uri="{FF2B5EF4-FFF2-40B4-BE49-F238E27FC236}">
                <a16:creationId xmlns:a16="http://schemas.microsoft.com/office/drawing/2014/main" id="{A2A0EE53-F08E-46D8-A0A4-1FB87748D20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390A02C-6276-4A97-9190-B21F8309231D}"/>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17715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49B7D4-3C20-4060-B9CC-25B2AD41B70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DB850A8-702B-4D42-BFA2-B489D11396AD}"/>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D58CDC4-CBB1-46AF-B53F-A175D368B0F1}"/>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E184A7F8-85F2-4E85-8134-692D107AAA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BD1C066-43C0-4D8B-BFA9-041D2CB500E1}"/>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717124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33A317E-5491-4BDE-94D8-43BBE4881BF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6A28FF6-8E2A-453F-97BF-3D2240702625}"/>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1865E98-C534-48F4-AEA3-46A918773FA1}"/>
              </a:ext>
            </a:extLst>
          </p:cNvPr>
          <p:cNvSpPr>
            <a:spLocks noGrp="1"/>
          </p:cNvSpPr>
          <p:nvPr>
            <p:ph type="dt" sz="half" idx="10"/>
          </p:nvPr>
        </p:nvSpPr>
        <p:spPr/>
        <p:txBody>
          <a:body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3F1F2824-4EA0-464C-B015-CF253D81ECB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33C451C-A236-4642-BACC-3393EEB046EE}"/>
              </a:ext>
            </a:extLst>
          </p:cNvPr>
          <p:cNvSpPr>
            <a:spLocks noGrp="1"/>
          </p:cNvSpPr>
          <p:nvPr>
            <p:ph type="sldNum" sz="quarter" idx="12"/>
          </p:nvPr>
        </p:nvSpPr>
        <p:spPr/>
        <p:txBody>
          <a:body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13921338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DF7E9D-0018-4E09-8C4C-789E2BAEBD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AD8308A-F5AF-40D0-8E9F-84CA63AE57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B165CCE-B56E-4D0A-A387-A236024B1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B80665-8ADD-44DF-A52F-98BED6E2E402}" type="datetimeFigureOut">
              <a:rPr lang="zh-TW" altLang="en-US" smtClean="0"/>
              <a:t>2026/8/4</a:t>
            </a:fld>
            <a:endParaRPr lang="zh-TW" altLang="en-US"/>
          </a:p>
        </p:txBody>
      </p:sp>
      <p:sp>
        <p:nvSpPr>
          <p:cNvPr id="5" name="頁尾版面配置區 4">
            <a:extLst>
              <a:ext uri="{FF2B5EF4-FFF2-40B4-BE49-F238E27FC236}">
                <a16:creationId xmlns:a16="http://schemas.microsoft.com/office/drawing/2014/main" id="{D1B0B665-366A-4DB7-8167-544D81AD2E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C1BCE28-53E3-49FA-BA34-A2387491F8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36606C-0C2B-4A5F-B4A9-228D8F2D56A9}" type="slidenum">
              <a:rPr lang="zh-TW" altLang="en-US" smtClean="0"/>
              <a:t>‹#›</a:t>
            </a:fld>
            <a:endParaRPr lang="zh-TW" altLang="en-US"/>
          </a:p>
        </p:txBody>
      </p:sp>
    </p:spTree>
    <p:extLst>
      <p:ext uri="{BB962C8B-B14F-4D97-AF65-F5344CB8AC3E}">
        <p14:creationId xmlns:p14="http://schemas.microsoft.com/office/powerpoint/2010/main" val="2295505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2026 諾貝爾物理獎揭曉</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1333500"/>
            <a:ext cx="11049000" cy="571500"/>
          </a:xfrm>
          <a:prstGeom prst="rect">
            <a:avLst/>
          </a:prstGeom>
          <a:noFill/>
        </p:spPr>
        <p:txBody>
          <a:bodyPr wrap="square" anchor="t" lIns="38100" rIns="38100" tIns="19050" bIns="19050">
            <a:spAutoFit/>
          </a:bodyPr>
          <a:lstStyle/>
          <a:p>
            <a:pPr algn="l">
              <a:lnSpc>
                <a:spcPct val="130000"/>
              </a:lnSpc>
            </a:pPr>
            <a:r>
              <a:rPr sz="4000" b="1">
                <a:solidFill>
                  <a:srgbClr val="F25821"/>
                </a:solidFill>
                <a:latin typeface="微軟正黑體"/>
                <a:ea typeface="微軟正黑體"/>
                <a:cs typeface="微軟正黑體"/>
              </a:rPr>
              <a:t>冰立方捕捉高能宇宙微中子</a:t>
            </a:r>
          </a:p>
        </p:txBody>
      </p:sp>
      <p:sp>
        <p:nvSpPr>
          <p:cNvPr id="8" name="TextBox 7"/>
          <p:cNvSpPr txBox="1"/>
          <p:nvPr/>
        </p:nvSpPr>
        <p:spPr>
          <a:xfrm>
            <a:off x="609600" y="2000250"/>
            <a:ext cx="11049000" cy="571500"/>
          </a:xfrm>
          <a:prstGeom prst="rect">
            <a:avLst/>
          </a:prstGeom>
          <a:noFill/>
        </p:spPr>
        <p:txBody>
          <a:bodyPr wrap="square" anchor="t" lIns="38100" rIns="38100" tIns="19050" bIns="19050">
            <a:spAutoFit/>
          </a:bodyPr>
          <a:lstStyle/>
          <a:p>
            <a:pPr algn="l">
              <a:lnSpc>
                <a:spcPct val="130000"/>
              </a:lnSpc>
            </a:pPr>
            <a:r>
              <a:rPr sz="2400" b="1">
                <a:solidFill>
                  <a:srgbClr val="000000"/>
                </a:solidFill>
                <a:latin typeface="微軟正黑體"/>
                <a:ea typeface="微軟正黑體"/>
                <a:cs typeface="微軟正黑體"/>
              </a:rPr>
              <a:t>用南極冰層當偵測器，首次捕捉到來自宇宙深處的高能微中子。</a:t>
            </a:r>
          </a:p>
        </p:txBody>
      </p:sp>
      <p:sp>
        <p:nvSpPr>
          <p:cNvPr id="9" name="TextBox 8"/>
          <p:cNvSpPr txBox="1"/>
          <p:nvPr/>
        </p:nvSpPr>
        <p:spPr>
          <a:xfrm>
            <a:off x="609600" y="2686050"/>
            <a:ext cx="11049000" cy="381000"/>
          </a:xfrm>
          <a:prstGeom prst="rect">
            <a:avLst/>
          </a:prstGeom>
          <a:noFill/>
        </p:spPr>
        <p:txBody>
          <a:bodyPr wrap="square" anchor="t" lIns="38100" rIns="38100" tIns="19050" bIns="19050">
            <a:spAutoFit/>
          </a:bodyPr>
          <a:lstStyle/>
          <a:p>
            <a:pPr algn="l">
              <a:lnSpc>
                <a:spcPct val="130000"/>
              </a:lnSpc>
            </a:pPr>
            <a:r>
              <a:rPr sz="2000" b="0">
                <a:solidFill>
                  <a:srgbClr val="7F7F7F"/>
                </a:solidFill>
                <a:latin typeface="微軟正黑體"/>
                <a:ea typeface="微軟正黑體"/>
                <a:cs typeface="微軟正黑體"/>
              </a:rPr>
              <a:t>得獎者</a:t>
            </a:r>
          </a:p>
        </p:txBody>
      </p:sp>
      <p:sp>
        <p:nvSpPr>
          <p:cNvPr id="10" name="TextBox 9"/>
          <p:cNvSpPr txBox="1"/>
          <p:nvPr/>
        </p:nvSpPr>
        <p:spPr>
          <a:xfrm>
            <a:off x="609600" y="3028950"/>
            <a:ext cx="11049000" cy="1047750"/>
          </a:xfrm>
          <a:prstGeom prst="rect">
            <a:avLst/>
          </a:prstGeom>
          <a:noFill/>
        </p:spPr>
        <p:txBody>
          <a:bodyPr wrap="square" anchor="t" lIns="38100" rIns="38100" tIns="19050" bIns="19050">
            <a:spAutoFit/>
          </a:bodyPr>
          <a:lstStyle/>
          <a:p>
            <a:pPr algn="l">
              <a:lnSpc>
                <a:spcPct val="140000"/>
              </a:lnSpc>
            </a:pPr>
            <a:r>
              <a:rPr sz="2400" b="0">
                <a:solidFill>
                  <a:srgbClr val="000000"/>
                </a:solidFill>
                <a:latin typeface="微軟正黑體"/>
                <a:ea typeface="微軟正黑體"/>
                <a:cs typeface="微軟正黑體"/>
              </a:rPr>
              <a:t>法蘭西斯・哈爾岑（Francis Halzen）</a:t>
            </a:r>
          </a:p>
        </p:txBody>
      </p:sp>
      <p:sp>
        <p:nvSpPr>
          <p:cNvPr id="11" name="Rectangle 10"/>
          <p:cNvSpPr/>
          <p:nvPr/>
        </p:nvSpPr>
        <p:spPr>
          <a:xfrm>
            <a:off x="609600" y="4286250"/>
            <a:ext cx="11049000" cy="1238250"/>
          </a:xfrm>
          <a:prstGeom prst="rect">
            <a:avLst/>
          </a:prstGeom>
          <a:solidFill>
            <a:srgbClr val="FFF4E6"/>
          </a:solidFill>
          <a:ln w="57150">
            <a:solidFill>
              <a:srgbClr val="F258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950" y="4352925"/>
            <a:ext cx="10782300" cy="110490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華康圓體 Std W7"/>
                <a:ea typeface="華康圓體 Std W7"/>
                <a:cs typeface="華康圓體 Std W7"/>
              </a:rPr>
              <a:t>官方理由：表彰其對『冰立方微中子天文台（IceCube Neutrino Observatory）』的關鍵貢獻，以及發現源自天體的高能微中子。</a:t>
            </a:r>
          </a:p>
        </p:txBody>
      </p:sp>
      <p:sp>
        <p:nvSpPr>
          <p:cNvPr id="13" name="TextBox 12"/>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諾貝爾基金會 2026-10-06 公告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解決什麼問題</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9600" y="1485900"/>
            <a:ext cx="533400" cy="5334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1</a:t>
            </a:r>
          </a:p>
        </p:txBody>
      </p:sp>
      <p:sp>
        <p:nvSpPr>
          <p:cNvPr id="8" name="TextBox 7"/>
          <p:cNvSpPr txBox="1"/>
          <p:nvPr/>
        </p:nvSpPr>
        <p:spPr>
          <a:xfrm>
            <a:off x="1333500" y="1428750"/>
            <a:ext cx="10325100" cy="3143250"/>
          </a:xfrm>
          <a:prstGeom prst="rect">
            <a:avLst/>
          </a:prstGeom>
          <a:noFill/>
        </p:spPr>
        <p:txBody>
          <a:bodyPr wrap="square" anchor="t" lIns="38100" rIns="38100" tIns="19050" bIns="19050">
            <a:spAutoFit/>
          </a:bodyPr>
          <a:lstStyle/>
          <a:p>
            <a:pPr algn="l">
              <a:lnSpc>
                <a:spcPct val="160000"/>
              </a:lnSpc>
            </a:pPr>
            <a:r>
              <a:rPr sz="2400" b="0">
                <a:solidFill>
                  <a:srgbClr val="000000"/>
                </a:solidFill>
                <a:latin typeface="微軟正黑體"/>
                <a:ea typeface="微軟正黑體"/>
                <a:cs typeface="微軟正黑體"/>
              </a:rPr>
              <a:t>宇宙中有『天然粒子加速器』，像黑洞與超新星爆炸，能射出比地面實驗室強上百萬倍的高能粒子。但這些粒子沿途多半被磁場偏轉、能量耗損，科學家因此一直很難直接找到源頭。</a:t>
            </a:r>
          </a:p>
        </p:txBody>
      </p:sp>
      <p:sp>
        <p:nvSpPr>
          <p:cNvPr id="9" name="TextBox 8"/>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依官方新聞稿與科學背景說明整理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怎麼做到</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9600" y="1485900"/>
            <a:ext cx="533400" cy="5334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2</a:t>
            </a:r>
          </a:p>
        </p:txBody>
      </p:sp>
      <p:sp>
        <p:nvSpPr>
          <p:cNvPr id="8" name="TextBox 7"/>
          <p:cNvSpPr txBox="1"/>
          <p:nvPr/>
        </p:nvSpPr>
        <p:spPr>
          <a:xfrm>
            <a:off x="1333500" y="1428750"/>
            <a:ext cx="10325100" cy="3143250"/>
          </a:xfrm>
          <a:prstGeom prst="rect">
            <a:avLst/>
          </a:prstGeom>
          <a:noFill/>
        </p:spPr>
        <p:txBody>
          <a:bodyPr wrap="square" anchor="t" lIns="38100" rIns="38100" tIns="19050" bIns="19050">
            <a:spAutoFit/>
          </a:bodyPr>
          <a:lstStyle/>
          <a:p>
            <a:pPr algn="l">
              <a:lnSpc>
                <a:spcPct val="160000"/>
              </a:lnSpc>
            </a:pPr>
            <a:r>
              <a:rPr sz="2400" b="0">
                <a:solidFill>
                  <a:srgbClr val="000000"/>
                </a:solidFill>
                <a:latin typeface="微軟正黑體"/>
                <a:ea typeface="微軟正黑體"/>
                <a:cs typeface="微軟正黑體"/>
              </a:rPr>
              <a:t>Halzen 想到：微中子幾乎不與物質作用，能帶著源頭資訊直直穿越宇宙。他主導在南極深冰裡埋入數千個光感測器，造出體積達一立方公里的『冰立方』——微中子極偶爾撞上冰中原子時產生的微光，就被記錄下來。</a:t>
            </a:r>
          </a:p>
        </p:txBody>
      </p:sp>
      <p:sp>
        <p:nvSpPr>
          <p:cNvPr id="9" name="TextBox 8"/>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依官方新聞稿與科學背景說明整理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為什麼重要</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9600" y="1485900"/>
            <a:ext cx="533400" cy="5334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3</a:t>
            </a:r>
          </a:p>
        </p:txBody>
      </p:sp>
      <p:sp>
        <p:nvSpPr>
          <p:cNvPr id="8" name="TextBox 7"/>
          <p:cNvSpPr txBox="1"/>
          <p:nvPr/>
        </p:nvSpPr>
        <p:spPr>
          <a:xfrm>
            <a:off x="1333500" y="1428750"/>
            <a:ext cx="10325100" cy="3143250"/>
          </a:xfrm>
          <a:prstGeom prst="rect">
            <a:avLst/>
          </a:prstGeom>
          <a:noFill/>
        </p:spPr>
        <p:txBody>
          <a:bodyPr wrap="square" anchor="t" lIns="38100" rIns="38100" tIns="19050" bIns="19050">
            <a:spAutoFit/>
          </a:bodyPr>
          <a:lstStyle/>
          <a:p>
            <a:pPr algn="l">
              <a:lnSpc>
                <a:spcPct val="160000"/>
              </a:lnSpc>
            </a:pPr>
            <a:r>
              <a:rPr sz="2400" b="0">
                <a:solidFill>
                  <a:srgbClr val="000000"/>
                </a:solidFill>
                <a:latin typeface="微軟正黑體"/>
                <a:ea typeface="微軟正黑體"/>
                <a:cs typeface="微軟正黑體"/>
              </a:rPr>
              <a:t>冰立方 2011 年完工後，陸續找到來自太陽系外的高能微中子，證實宇宙深處確有極端的粒子加速源。這等於替天文學開一扇新窗——除了光，人類多了一種能『透視』宇宙最猛烈現象的訊號，開啟多信使天文學時代。</a:t>
            </a:r>
          </a:p>
        </p:txBody>
      </p:sp>
      <p:sp>
        <p:nvSpPr>
          <p:cNvPr id="9" name="Rectangle 8"/>
          <p:cNvSpPr/>
          <p:nvPr/>
        </p:nvSpPr>
        <p:spPr>
          <a:xfrm>
            <a:off x="609600" y="4629150"/>
            <a:ext cx="11049000" cy="1143000"/>
          </a:xfrm>
          <a:prstGeom prst="rect">
            <a:avLst/>
          </a:prstGeom>
          <a:solidFill>
            <a:srgbClr val="E8F3E3"/>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950" y="4695825"/>
            <a:ext cx="10782300" cy="100965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華康圓體 Std W7"/>
                <a:ea typeface="華康圓體 Std W7"/>
                <a:cs typeface="華康圓體 Std W7"/>
              </a:rPr>
              <a:t>過去天文學主要靠電磁波。微中子不帶電、幾乎不與物質作用，能原路傳回極端天體內部的資訊，等於多開一道能透視黑洞、超新星等暴烈宇宙現象的新頻道。</a:t>
            </a:r>
          </a:p>
        </p:txBody>
      </p:sp>
      <p:sp>
        <p:nvSpPr>
          <p:cNvPr id="11" name="TextBox 10"/>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依官方新聞稿與科學背景說明整理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落在課本哪一章</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1428750"/>
            <a:ext cx="4191000" cy="952500"/>
          </a:xfrm>
          <a:prstGeom prst="rect">
            <a:avLst/>
          </a:prstGeom>
          <a:solidFill>
            <a:srgbClr val="4C8537"/>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950" y="1495425"/>
            <a:ext cx="3924300" cy="819150"/>
          </a:xfrm>
          <a:prstGeom prst="rect">
            <a:avLst/>
          </a:prstGeom>
          <a:noFill/>
        </p:spPr>
        <p:txBody>
          <a:bodyPr wrap="square" anchor="ctr" lIns="38100" rIns="38100" tIns="19050" bIns="19050">
            <a:spAutoFit/>
          </a:bodyPr>
          <a:lstStyle/>
          <a:p>
            <a:pPr algn="ctr">
              <a:lnSpc>
                <a:spcPct val="130000"/>
              </a:lnSpc>
            </a:pPr>
            <a:r>
              <a:rPr sz="2000" b="1">
                <a:solidFill>
                  <a:srgbClr val="FFFFFF"/>
                </a:solidFill>
                <a:latin typeface="華康圓體 Std W7"/>
                <a:ea typeface="華康圓體 Std W7"/>
                <a:cs typeface="華康圓體 Std W7"/>
              </a:rPr>
              <a:t>9607 3-6 原子核的衰變與放射性</a:t>
            </a:r>
          </a:p>
        </p:txBody>
      </p:sp>
      <p:sp>
        <p:nvSpPr>
          <p:cNvPr id="9" name="TextBox 8"/>
          <p:cNvSpPr txBox="1"/>
          <p:nvPr/>
        </p:nvSpPr>
        <p:spPr>
          <a:xfrm>
            <a:off x="5048250" y="1428750"/>
            <a:ext cx="6610350" cy="95250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微軟正黑體"/>
                <a:ea typeface="微軟正黑體"/>
                <a:cs typeface="微軟正黑體"/>
              </a:rPr>
              <a:t>β 衰變是最早『看到』微中子行為的實驗場景，微中子正是本屆得獎研究的主角。</a:t>
            </a:r>
          </a:p>
        </p:txBody>
      </p:sp>
      <p:sp>
        <p:nvSpPr>
          <p:cNvPr id="10" name="Rectangle 9"/>
          <p:cNvSpPr/>
          <p:nvPr/>
        </p:nvSpPr>
        <p:spPr>
          <a:xfrm>
            <a:off x="609600" y="2571750"/>
            <a:ext cx="4191000" cy="952500"/>
          </a:xfrm>
          <a:prstGeom prst="rect">
            <a:avLst/>
          </a:prstGeom>
          <a:solidFill>
            <a:srgbClr val="4C8537"/>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950" y="2638425"/>
            <a:ext cx="3924300" cy="819150"/>
          </a:xfrm>
          <a:prstGeom prst="rect">
            <a:avLst/>
          </a:prstGeom>
          <a:noFill/>
        </p:spPr>
        <p:txBody>
          <a:bodyPr wrap="square" anchor="ctr" lIns="38100" rIns="38100" tIns="19050" bIns="19050">
            <a:spAutoFit/>
          </a:bodyPr>
          <a:lstStyle/>
          <a:p>
            <a:pPr algn="ctr">
              <a:lnSpc>
                <a:spcPct val="130000"/>
              </a:lnSpc>
            </a:pPr>
            <a:r>
              <a:rPr sz="2000" b="1">
                <a:solidFill>
                  <a:srgbClr val="FFFFFF"/>
                </a:solidFill>
                <a:latin typeface="華康圓體 Std W7"/>
                <a:ea typeface="華康圓體 Std W7"/>
                <a:cs typeface="華康圓體 Std W7"/>
              </a:rPr>
              <a:t>9607 3-7 守恆律</a:t>
            </a:r>
          </a:p>
        </p:txBody>
      </p:sp>
      <p:sp>
        <p:nvSpPr>
          <p:cNvPr id="12" name="TextBox 11"/>
          <p:cNvSpPr txBox="1"/>
          <p:nvPr/>
        </p:nvSpPr>
        <p:spPr>
          <a:xfrm>
            <a:off x="5048250" y="2571750"/>
            <a:ext cx="6610350" cy="95250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微軟正黑體"/>
                <a:ea typeface="微軟正黑體"/>
                <a:cs typeface="微軟正黑體"/>
              </a:rPr>
              <a:t>Pauli 1930 年預言微中子，就是為了讓 β 衰變仍滿足能量與動量守恆。</a:t>
            </a:r>
          </a:p>
        </p:txBody>
      </p:sp>
      <p:sp>
        <p:nvSpPr>
          <p:cNvPr id="13" name="Rectangle 12"/>
          <p:cNvSpPr/>
          <p:nvPr/>
        </p:nvSpPr>
        <p:spPr>
          <a:xfrm>
            <a:off x="609600" y="3714750"/>
            <a:ext cx="4191000" cy="952500"/>
          </a:xfrm>
          <a:prstGeom prst="rect">
            <a:avLst/>
          </a:prstGeom>
          <a:solidFill>
            <a:srgbClr val="4C8537"/>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3781425"/>
            <a:ext cx="3924300" cy="819150"/>
          </a:xfrm>
          <a:prstGeom prst="rect">
            <a:avLst/>
          </a:prstGeom>
          <a:noFill/>
        </p:spPr>
        <p:txBody>
          <a:bodyPr wrap="square" anchor="ctr" lIns="38100" rIns="38100" tIns="19050" bIns="19050">
            <a:spAutoFit/>
          </a:bodyPr>
          <a:lstStyle/>
          <a:p>
            <a:pPr algn="ctr">
              <a:lnSpc>
                <a:spcPct val="130000"/>
              </a:lnSpc>
            </a:pPr>
            <a:r>
              <a:rPr sz="2000" b="1">
                <a:solidFill>
                  <a:srgbClr val="FFFFFF"/>
                </a:solidFill>
                <a:latin typeface="華康圓體 Std W7"/>
                <a:ea typeface="華康圓體 Std W7"/>
                <a:cs typeface="華康圓體 Std W7"/>
              </a:rPr>
              <a:t>9601 2-3 物質間的基本交互作用</a:t>
            </a:r>
          </a:p>
        </p:txBody>
      </p:sp>
      <p:sp>
        <p:nvSpPr>
          <p:cNvPr id="15" name="TextBox 14"/>
          <p:cNvSpPr txBox="1"/>
          <p:nvPr/>
        </p:nvSpPr>
        <p:spPr>
          <a:xfrm>
            <a:off x="5048250" y="3714750"/>
            <a:ext cx="6610350" cy="95250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微軟正黑體"/>
                <a:ea typeface="微軟正黑體"/>
                <a:cs typeface="微軟正黑體"/>
              </a:rPr>
              <a:t>微中子只參與弱交互作用與重力，才會『穿透一切』、極難被偵測。</a:t>
            </a:r>
          </a:p>
        </p:txBody>
      </p:sp>
      <p:sp>
        <p:nvSpPr>
          <p:cNvPr id="16" name="TextBox 15"/>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泰宇《物理》現行版目次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課堂三問</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9600" y="1466850"/>
            <a:ext cx="457200" cy="4572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1</a:t>
            </a:r>
          </a:p>
        </p:txBody>
      </p:sp>
      <p:sp>
        <p:nvSpPr>
          <p:cNvPr id="8" name="TextBox 7"/>
          <p:cNvSpPr txBox="1"/>
          <p:nvPr/>
        </p:nvSpPr>
        <p:spPr>
          <a:xfrm>
            <a:off x="1238250" y="1428750"/>
            <a:ext cx="10382250" cy="476250"/>
          </a:xfrm>
          <a:prstGeom prst="rect">
            <a:avLst/>
          </a:prstGeom>
          <a:noFill/>
        </p:spPr>
        <p:txBody>
          <a:bodyPr wrap="square" anchor="t" lIns="38100" rIns="38100" tIns="19050" bIns="19050">
            <a:spAutoFit/>
          </a:bodyPr>
          <a:lstStyle/>
          <a:p>
            <a:pPr algn="l">
              <a:lnSpc>
                <a:spcPct val="130000"/>
              </a:lnSpc>
            </a:pPr>
            <a:r>
              <a:rPr sz="3200" b="1">
                <a:solidFill>
                  <a:srgbClr val="000000"/>
                </a:solidFill>
                <a:latin typeface="微軟正黑體"/>
                <a:ea typeface="微軟正黑體"/>
                <a:cs typeface="微軟正黑體"/>
              </a:rPr>
              <a:t>為什麼要在南極的冰層裡建偵測器，而不是蓋在實驗室裡？</a:t>
            </a:r>
          </a:p>
        </p:txBody>
      </p:sp>
      <p:sp>
        <p:nvSpPr>
          <p:cNvPr id="9" name="TextBox 8"/>
          <p:cNvSpPr txBox="1"/>
          <p:nvPr/>
        </p:nvSpPr>
        <p:spPr>
          <a:xfrm>
            <a:off x="1238250" y="1962150"/>
            <a:ext cx="10382250" cy="800100"/>
          </a:xfrm>
          <a:prstGeom prst="rect">
            <a:avLst/>
          </a:prstGeom>
          <a:noFill/>
        </p:spPr>
        <p:txBody>
          <a:bodyPr wrap="square" anchor="t" lIns="38100" rIns="38100" tIns="19050" bIns="19050">
            <a:spAutoFit/>
          </a:bodyPr>
          <a:lstStyle/>
          <a:p>
            <a:pPr algn="l">
              <a:lnSpc>
                <a:spcPct val="130000"/>
              </a:lnSpc>
            </a:pPr>
            <a:r>
              <a:rPr sz="2000" b="0">
                <a:solidFill>
                  <a:srgbClr val="7F7F7F"/>
                </a:solidFill>
                <a:latin typeface="微軟正黑體"/>
                <a:ea typeface="微軟正黑體"/>
                <a:cs typeface="微軟正黑體"/>
              </a:rPr>
              <a:t>微中子極少與物質作用，需要巨量透明物質才能等到碰撞。南極冰乾淨、量大、地質穩定，一立方公里的冰就是最便宜的偵測材料。</a:t>
            </a:r>
          </a:p>
        </p:txBody>
      </p:sp>
      <p:sp>
        <p:nvSpPr>
          <p:cNvPr id="10" name="Oval 9"/>
          <p:cNvSpPr/>
          <p:nvPr/>
        </p:nvSpPr>
        <p:spPr>
          <a:xfrm>
            <a:off x="609600" y="2952750"/>
            <a:ext cx="457200" cy="4572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2</a:t>
            </a:r>
          </a:p>
        </p:txBody>
      </p:sp>
      <p:sp>
        <p:nvSpPr>
          <p:cNvPr id="11" name="TextBox 10"/>
          <p:cNvSpPr txBox="1"/>
          <p:nvPr/>
        </p:nvSpPr>
        <p:spPr>
          <a:xfrm>
            <a:off x="1238250" y="2914650"/>
            <a:ext cx="10382250" cy="476250"/>
          </a:xfrm>
          <a:prstGeom prst="rect">
            <a:avLst/>
          </a:prstGeom>
          <a:noFill/>
        </p:spPr>
        <p:txBody>
          <a:bodyPr wrap="square" anchor="t" lIns="38100" rIns="38100" tIns="19050" bIns="19050">
            <a:spAutoFit/>
          </a:bodyPr>
          <a:lstStyle/>
          <a:p>
            <a:pPr algn="l">
              <a:lnSpc>
                <a:spcPct val="130000"/>
              </a:lnSpc>
            </a:pPr>
            <a:r>
              <a:rPr sz="3200" b="1">
                <a:solidFill>
                  <a:srgbClr val="000000"/>
                </a:solidFill>
                <a:latin typeface="微軟正黑體"/>
                <a:ea typeface="微軟正黑體"/>
                <a:cs typeface="微軟正黑體"/>
              </a:rPr>
              <a:t>微中子最早是誰、因為什麼理由被『預言』出來的？</a:t>
            </a:r>
          </a:p>
        </p:txBody>
      </p:sp>
      <p:sp>
        <p:nvSpPr>
          <p:cNvPr id="12" name="TextBox 11"/>
          <p:cNvSpPr txBox="1"/>
          <p:nvPr/>
        </p:nvSpPr>
        <p:spPr>
          <a:xfrm>
            <a:off x="1238250" y="3448050"/>
            <a:ext cx="10382250" cy="800100"/>
          </a:xfrm>
          <a:prstGeom prst="rect">
            <a:avLst/>
          </a:prstGeom>
          <a:noFill/>
        </p:spPr>
        <p:txBody>
          <a:bodyPr wrap="square" anchor="t" lIns="38100" rIns="38100" tIns="19050" bIns="19050">
            <a:spAutoFit/>
          </a:bodyPr>
          <a:lstStyle/>
          <a:p>
            <a:pPr algn="l">
              <a:lnSpc>
                <a:spcPct val="130000"/>
              </a:lnSpc>
            </a:pPr>
            <a:r>
              <a:rPr sz="2000" b="0">
                <a:solidFill>
                  <a:srgbClr val="7F7F7F"/>
                </a:solidFill>
                <a:latin typeface="微軟正黑體"/>
                <a:ea typeface="微軟正黑體"/>
                <a:cs typeface="微軟正黑體"/>
              </a:rPr>
              <a:t>1930 年 Pauli 為解釋 β 衰變中似乎『失蹤』的能量與動量，預言有一種不帶電、幾乎沒質量的粒子帶走它們，這就是微中子。</a:t>
            </a:r>
          </a:p>
        </p:txBody>
      </p:sp>
      <p:sp>
        <p:nvSpPr>
          <p:cNvPr id="13" name="Oval 12"/>
          <p:cNvSpPr/>
          <p:nvPr/>
        </p:nvSpPr>
        <p:spPr>
          <a:xfrm>
            <a:off x="609600" y="4438650"/>
            <a:ext cx="457200" cy="457200"/>
          </a:xfrm>
          <a:prstGeom prst="ellipse">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微軟正黑體"/>
                <a:ea typeface="微軟正黑體"/>
                <a:cs typeface="微軟正黑體"/>
              </a:rPr>
              <a:t>3</a:t>
            </a:r>
          </a:p>
        </p:txBody>
      </p:sp>
      <p:sp>
        <p:nvSpPr>
          <p:cNvPr id="14" name="TextBox 13"/>
          <p:cNvSpPr txBox="1"/>
          <p:nvPr/>
        </p:nvSpPr>
        <p:spPr>
          <a:xfrm>
            <a:off x="1238250" y="4400550"/>
            <a:ext cx="10382250" cy="476250"/>
          </a:xfrm>
          <a:prstGeom prst="rect">
            <a:avLst/>
          </a:prstGeom>
          <a:noFill/>
        </p:spPr>
        <p:txBody>
          <a:bodyPr wrap="square" anchor="t" lIns="38100" rIns="38100" tIns="19050" bIns="19050">
            <a:spAutoFit/>
          </a:bodyPr>
          <a:lstStyle/>
          <a:p>
            <a:pPr algn="l">
              <a:lnSpc>
                <a:spcPct val="130000"/>
              </a:lnSpc>
            </a:pPr>
            <a:r>
              <a:rPr sz="3200" b="1">
                <a:solidFill>
                  <a:srgbClr val="000000"/>
                </a:solidFill>
                <a:latin typeface="微軟正黑體"/>
                <a:ea typeface="微軟正黑體"/>
                <a:cs typeface="微軟正黑體"/>
              </a:rPr>
              <a:t>微中子天文學比傳統光學天文學多了什麼獨特優勢？</a:t>
            </a:r>
          </a:p>
        </p:txBody>
      </p:sp>
      <p:sp>
        <p:nvSpPr>
          <p:cNvPr id="15" name="TextBox 14"/>
          <p:cNvSpPr txBox="1"/>
          <p:nvPr/>
        </p:nvSpPr>
        <p:spPr>
          <a:xfrm>
            <a:off x="1238250" y="4933950"/>
            <a:ext cx="10382250" cy="800100"/>
          </a:xfrm>
          <a:prstGeom prst="rect">
            <a:avLst/>
          </a:prstGeom>
          <a:noFill/>
        </p:spPr>
        <p:txBody>
          <a:bodyPr wrap="square" anchor="t" lIns="38100" rIns="38100" tIns="19050" bIns="19050">
            <a:spAutoFit/>
          </a:bodyPr>
          <a:lstStyle/>
          <a:p>
            <a:pPr algn="l">
              <a:lnSpc>
                <a:spcPct val="130000"/>
              </a:lnSpc>
            </a:pPr>
            <a:r>
              <a:rPr sz="2000" b="0">
                <a:solidFill>
                  <a:srgbClr val="7F7F7F"/>
                </a:solidFill>
                <a:latin typeface="微軟正黑體"/>
                <a:ea typeface="微軟正黑體"/>
                <a:cs typeface="微軟正黑體"/>
              </a:rPr>
              <a:t>微中子不被磁場偏轉、不被塵埃吸收，能從源頭直直傳到地球，等於替天文學加一個能透視暴烈宇宙現象的新頻道。</a:t>
            </a:r>
          </a:p>
        </p:txBody>
      </p:sp>
      <p:sp>
        <p:nvSpPr>
          <p:cNvPr id="16" name="TextBox 15"/>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先讓學生答再揭曉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學習單（一）：單選與簡答</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1390650"/>
            <a:ext cx="11049000" cy="9525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1. 關於微中子（neutrino）的性質，下列敘述何者正確？　(A) 它帶一個單位的正電，很容易被磁場偏轉　(B) 它不帶電、幾乎不與物質作用，能近乎直線穿越地球　(C) 它是一種電磁波，傳播速度恆等於真空光速　(D) 它是原子核的組成粒子之一，和質子、中子並列</a:t>
            </a:r>
          </a:p>
        </p:txBody>
      </p:sp>
      <p:sp>
        <p:nvSpPr>
          <p:cNvPr id="8" name="TextBox 7"/>
          <p:cNvSpPr txBox="1"/>
          <p:nvPr/>
        </p:nvSpPr>
        <p:spPr>
          <a:xfrm>
            <a:off x="609600" y="2419350"/>
            <a:ext cx="11049000" cy="9525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2. 2026 年諾貝爾物理獎得主 Francis Halzen 的主要貢獻為下列何者？　(A) 用事件視界望遠鏡拍到銀河系中心黑洞的照片　(B) 以 LIGO 偵測到雙中子星合併產生的重力波　(C) 主導『冰立方』偵測器，發現源自天體的高能微中子　(D) 在歐洲核子研究中心證實希格斯粒子的存在</a:t>
            </a:r>
          </a:p>
        </p:txBody>
      </p:sp>
      <p:sp>
        <p:nvSpPr>
          <p:cNvPr id="9" name="TextBox 8"/>
          <p:cNvSpPr txBox="1"/>
          <p:nvPr/>
        </p:nvSpPr>
        <p:spPr>
          <a:xfrm>
            <a:off x="609600" y="3448050"/>
            <a:ext cx="11049000" cy="9525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3. Pauli 當年為什麼要『預言』有微中子這種粒子？請從守恆律的角度簡短說明。</a:t>
            </a:r>
          </a:p>
        </p:txBody>
      </p:sp>
      <p:sp>
        <p:nvSpPr>
          <p:cNvPr id="10" name="TextBox 9"/>
          <p:cNvSpPr txBox="1"/>
          <p:nvPr/>
        </p:nvSpPr>
        <p:spPr>
          <a:xfrm>
            <a:off x="609600" y="4476750"/>
            <a:ext cx="11049000" cy="9525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4. 為什麼觀測『來自天體的高能微中子』需要像冰立方這種『一立方公里』的大型偵測器？請從微中子的交互作用機率解釋。</a:t>
            </a:r>
          </a:p>
        </p:txBody>
      </p:sp>
      <p:sp>
        <p:nvSpPr>
          <p:cNvPr id="11" name="TextBox 10"/>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答案見教師版學習單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學習單（二）：資料判讀與延伸思考</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1333500"/>
            <a:ext cx="11049000" cy="1809750"/>
          </a:xfrm>
          <a:prstGeom prst="rect">
            <a:avLst/>
          </a:prstGeom>
          <a:solidFill>
            <a:srgbClr val="FFF4E6"/>
          </a:solidFill>
          <a:ln w="57150">
            <a:solidFill>
              <a:srgbClr val="F258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950" y="1400175"/>
            <a:ext cx="10782300" cy="16764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華康圓體 Std W7"/>
                <a:ea typeface="華康圓體 Std W7"/>
                <a:cs typeface="華康圓體 Std W7"/>
              </a:rPr>
              <a:t>冰立方把一立方公里的南極冰當偵測器。微中子極偶爾與冰中的原子核碰撞時，會產生帶電粒子；這些帶電粒子在冰中以『比該介質中光速還快』的速度前進，並發出微弱的藍光；分布在冰層內的數千個光感測器，記錄下這些閃光的到達時間與位置，科學家便能回推原本微中子的方向與能量。</a:t>
            </a:r>
          </a:p>
        </p:txBody>
      </p:sp>
      <p:sp>
        <p:nvSpPr>
          <p:cNvPr id="9" name="TextBox 8"/>
          <p:cNvSpPr txBox="1"/>
          <p:nvPr/>
        </p:nvSpPr>
        <p:spPr>
          <a:xfrm>
            <a:off x="609600" y="3238500"/>
            <a:ext cx="11049000" cy="8001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5. 根據資料，光感測器為什麼必須記錄『到達時間與位置』，而不是只量亮度？請用一到兩句話說明。</a:t>
            </a:r>
          </a:p>
        </p:txBody>
      </p:sp>
      <p:sp>
        <p:nvSpPr>
          <p:cNvPr id="10" name="TextBox 9"/>
          <p:cNvSpPr txBox="1"/>
          <p:nvPr/>
        </p:nvSpPr>
        <p:spPr>
          <a:xfrm>
            <a:off x="609600" y="4152900"/>
            <a:ext cx="11049000" cy="800100"/>
          </a:xfrm>
          <a:prstGeom prst="rect">
            <a:avLst/>
          </a:prstGeom>
          <a:noFill/>
        </p:spPr>
        <p:txBody>
          <a:bodyPr wrap="square" anchor="t" lIns="38100" rIns="38100" tIns="19050" bIns="19050">
            <a:spAutoFit/>
          </a:bodyPr>
          <a:lstStyle/>
          <a:p>
            <a:pPr algn="l">
              <a:lnSpc>
                <a:spcPct val="130000"/>
              </a:lnSpc>
            </a:pPr>
            <a:r>
              <a:rPr sz="2000" b="0">
                <a:solidFill>
                  <a:srgbClr val="000000"/>
                </a:solidFill>
                <a:latin typeface="微軟正黑體"/>
                <a:ea typeface="微軟正黑體"/>
                <a:cs typeface="微軟正黑體"/>
              </a:rPr>
              <a:t>6. 若未來冰立方真的觀測到來自銀河系中心超大質量黑洞的高能微中子，你認為這會改變我們對宇宙的哪些認識？請提出兩種可能的影響並說明理由。</a:t>
            </a:r>
          </a:p>
        </p:txBody>
      </p:sp>
      <p:sp>
        <p:nvSpPr>
          <p:cNvPr id="11" name="TextBox 10"/>
          <p:cNvSpPr txBox="1"/>
          <p:nvPr/>
        </p:nvSpPr>
        <p:spPr>
          <a:xfrm>
            <a:off x="609600" y="5010150"/>
            <a:ext cx="11049000" cy="1047750"/>
          </a:xfrm>
          <a:prstGeom prst="rect">
            <a:avLst/>
          </a:prstGeom>
          <a:noFill/>
        </p:spPr>
        <p:txBody>
          <a:bodyPr wrap="square" anchor="t" lIns="38100" rIns="38100" tIns="19050" bIns="19050">
            <a:spAutoFit/>
          </a:bodyPr>
          <a:lstStyle/>
          <a:p>
            <a:pPr algn="l">
              <a:lnSpc>
                <a:spcPct val="130000"/>
              </a:lnSpc>
            </a:pPr>
            <a:r>
              <a:rPr sz="1600" b="0">
                <a:solidFill>
                  <a:srgbClr val="7F7F7F"/>
                </a:solidFill>
                <a:latin typeface="微軟正黑體"/>
                <a:ea typeface="微軟正黑體"/>
                <a:cs typeface="微軟正黑體"/>
              </a:rPr>
              <a:t>評分重點：至少指出一項具體的新知識（例如：黑洞附近的粒子加速機制、宇宙射線的源頭、極端環境下的粒子物理）／能說明微中子為何能提供光、電波等傳統訊號看不到的資訊（如不被磁場偏轉、不被塵埃或物質吸收）／推論合乎邏輯、不違背高中已知的守恆律與交互作用性質</a:t>
            </a:r>
          </a:p>
        </p:txBody>
      </p:sp>
      <p:sp>
        <p:nvSpPr>
          <p:cNvPr id="12" name="TextBox 11"/>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答案見教師版學習單</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1000" y="285750"/>
            <a:ext cx="95250" cy="495300"/>
          </a:xfrm>
          <a:prstGeom prst="rect">
            <a:avLst/>
          </a:prstGeom>
          <a:solidFill>
            <a:srgbClr val="F25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209550"/>
            <a:ext cx="7620000" cy="628650"/>
          </a:xfrm>
          <a:prstGeom prst="rect">
            <a:avLst/>
          </a:prstGeom>
          <a:noFill/>
        </p:spPr>
        <p:txBody>
          <a:bodyPr wrap="square" anchor="ctr" lIns="38100" rIns="38100" tIns="19050" bIns="19050">
            <a:spAutoFit/>
          </a:bodyPr>
          <a:lstStyle/>
          <a:p>
            <a:pPr algn="l">
              <a:lnSpc>
                <a:spcPct val="130000"/>
              </a:lnSpc>
            </a:pPr>
            <a:r>
              <a:rPr sz="3400" b="1">
                <a:solidFill>
                  <a:srgbClr val="000000"/>
                </a:solidFill>
                <a:latin typeface="微軟正黑體"/>
                <a:ea typeface="微軟正黑體"/>
                <a:cs typeface="微軟正黑體"/>
              </a:rPr>
              <a:t>回到課本</a:t>
            </a:r>
          </a:p>
        </p:txBody>
      </p:sp>
      <p:sp>
        <p:nvSpPr>
          <p:cNvPr id="5" name="TextBox 4"/>
          <p:cNvSpPr txBox="1"/>
          <p:nvPr/>
        </p:nvSpPr>
        <p:spPr>
          <a:xfrm>
            <a:off x="8191500" y="361950"/>
            <a:ext cx="3619500" cy="323850"/>
          </a:xfrm>
          <a:prstGeom prst="rect">
            <a:avLst/>
          </a:prstGeom>
          <a:noFill/>
        </p:spPr>
        <p:txBody>
          <a:bodyPr wrap="square" anchor="ctr" lIns="38100" rIns="38100" tIns="19050" bIns="19050">
            <a:spAutoFit/>
          </a:bodyPr>
          <a:lstStyle/>
          <a:p>
            <a:pPr algn="r">
              <a:lnSpc>
                <a:spcPct val="130000"/>
              </a:lnSpc>
            </a:pPr>
            <a:r>
              <a:rPr sz="1600" b="0">
                <a:solidFill>
                  <a:srgbClr val="7F7F7F"/>
                </a:solidFill>
                <a:latin typeface="微軟正黑體"/>
                <a:ea typeface="微軟正黑體"/>
                <a:cs typeface="微軟正黑體"/>
              </a:rPr>
              <a:t>課本 3-6 原子核的衰變與放射性</a:t>
            </a:r>
          </a:p>
        </p:txBody>
      </p:sp>
      <p:sp>
        <p:nvSpPr>
          <p:cNvPr id="6" name="Rectangle 5"/>
          <p:cNvSpPr/>
          <p:nvPr/>
        </p:nvSpPr>
        <p:spPr>
          <a:xfrm>
            <a:off x="381000" y="952500"/>
            <a:ext cx="11430000" cy="190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1428750"/>
            <a:ext cx="11049000" cy="2857500"/>
          </a:xfrm>
          <a:prstGeom prst="rect">
            <a:avLst/>
          </a:prstGeom>
          <a:noFill/>
        </p:spPr>
        <p:txBody>
          <a:bodyPr wrap="square" anchor="t" lIns="38100" rIns="38100" tIns="19050" bIns="19050">
            <a:spAutoFit/>
          </a:bodyPr>
          <a:lstStyle/>
          <a:p>
            <a:pPr algn="l">
              <a:lnSpc>
                <a:spcPct val="150000"/>
              </a:lnSpc>
            </a:pPr>
            <a:r>
              <a:rPr sz="2000" b="0">
                <a:solidFill>
                  <a:srgbClr val="000000"/>
                </a:solidFill>
                <a:latin typeface="微軟正黑體"/>
                <a:ea typeface="微軟正黑體"/>
                <a:cs typeface="微軟正黑體"/>
              </a:rPr>
              <a:t>・9607 3-6 原子核的衰變與放射性：β 衰變是最早『看到』微中子行為的實驗場景，微中子正是本屆得獎研究的主角。</a:t>
            </a:r>
          </a:p>
          <a:p>
            <a:pPr algn="l">
              <a:lnSpc>
                <a:spcPct val="150000"/>
              </a:lnSpc>
            </a:pPr>
            <a:r>
              <a:rPr sz="2000" b="0">
                <a:solidFill>
                  <a:srgbClr val="000000"/>
                </a:solidFill>
                <a:latin typeface="微軟正黑體"/>
                <a:ea typeface="微軟正黑體"/>
                <a:cs typeface="微軟正黑體"/>
              </a:rPr>
              <a:t>・9607 3-7 守恆律：Pauli 1930 年預言微中子，就是為了讓 β 衰變仍滿足能量與動量守恆。</a:t>
            </a:r>
          </a:p>
          <a:p>
            <a:pPr algn="l">
              <a:lnSpc>
                <a:spcPct val="150000"/>
              </a:lnSpc>
            </a:pPr>
            <a:r>
              <a:rPr sz="2000" b="0">
                <a:solidFill>
                  <a:srgbClr val="000000"/>
                </a:solidFill>
                <a:latin typeface="微軟正黑體"/>
                <a:ea typeface="微軟正黑體"/>
                <a:cs typeface="微軟正黑體"/>
              </a:rPr>
              <a:t>・9601 2-3 物質間的基本交互作用：微中子只參與弱交互作用與重力，才會『穿透一切』、極難被偵測。</a:t>
            </a:r>
          </a:p>
        </p:txBody>
      </p:sp>
      <p:sp>
        <p:nvSpPr>
          <p:cNvPr id="8" name="Rectangle 7"/>
          <p:cNvSpPr/>
          <p:nvPr/>
        </p:nvSpPr>
        <p:spPr>
          <a:xfrm>
            <a:off x="609600" y="4476750"/>
            <a:ext cx="11049000" cy="1143000"/>
          </a:xfrm>
          <a:prstGeom prst="rect">
            <a:avLst/>
          </a:prstGeom>
          <a:solidFill>
            <a:srgbClr val="E8F3E3"/>
          </a:solidFill>
          <a:ln w="57150">
            <a:solidFill>
              <a:srgbClr val="4C85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2950" y="4543425"/>
            <a:ext cx="10782300" cy="1009650"/>
          </a:xfrm>
          <a:prstGeom prst="rect">
            <a:avLst/>
          </a:prstGeom>
          <a:noFill/>
        </p:spPr>
        <p:txBody>
          <a:bodyPr wrap="square" anchor="ctr" lIns="38100" rIns="38100" tIns="19050" bIns="19050">
            <a:spAutoFit/>
          </a:bodyPr>
          <a:lstStyle/>
          <a:p>
            <a:pPr algn="l">
              <a:lnSpc>
                <a:spcPct val="130000"/>
              </a:lnSpc>
            </a:pPr>
            <a:r>
              <a:rPr sz="2000" b="0">
                <a:solidFill>
                  <a:srgbClr val="000000"/>
                </a:solidFill>
                <a:latin typeface="華康圓體 Std W7"/>
                <a:ea typeface="華康圓體 Std W7"/>
                <a:cs typeface="華康圓體 Std W7"/>
              </a:rPr>
              <a:t>搭配：學習單（學生版／教師版 PDF）、近十年得獎主題 × 課本章節對照表</a:t>
            </a:r>
          </a:p>
          <a:p>
            <a:pPr algn="l">
              <a:lnSpc>
                <a:spcPct val="130000"/>
              </a:lnSpc>
            </a:pPr>
            <a:r>
              <a:rPr sz="2000" b="0">
                <a:solidFill>
                  <a:srgbClr val="000000"/>
                </a:solidFill>
                <a:latin typeface="華康圓體 Std W7"/>
                <a:ea typeface="華康圓體 Std W7"/>
                <a:cs typeface="華康圓體 Std W7"/>
              </a:rPr>
              <a:t>開獎資料以諾貝爾基金會官方公告為準；本簡報供課堂介紹，不作為評量依據</a:t>
            </a:r>
          </a:p>
        </p:txBody>
      </p:sp>
      <p:sp>
        <p:nvSpPr>
          <p:cNvPr id="10" name="TextBox 9"/>
          <p:cNvSpPr txBox="1"/>
          <p:nvPr/>
        </p:nvSpPr>
        <p:spPr>
          <a:xfrm>
            <a:off x="361950" y="6419850"/>
            <a:ext cx="11468100" cy="266700"/>
          </a:xfrm>
          <a:prstGeom prst="rect">
            <a:avLst/>
          </a:prstGeom>
          <a:noFill/>
        </p:spPr>
        <p:txBody>
          <a:bodyPr wrap="square" anchor="t" lIns="38100" rIns="38100" tIns="19050" bIns="19050">
            <a:spAutoFit/>
          </a:bodyPr>
          <a:lstStyle/>
          <a:p>
            <a:pPr algn="l">
              <a:lnSpc>
                <a:spcPct val="130000"/>
              </a:lnSpc>
            </a:pPr>
            <a:r>
              <a:rPr sz="1400" b="0">
                <a:solidFill>
                  <a:srgbClr val="7F7F7F"/>
                </a:solidFill>
                <a:latin typeface="微軟正黑體"/>
                <a:ea typeface="微軟正黑體"/>
                <a:cs typeface="微軟正黑體"/>
              </a:rPr>
              <a:t>泰宇《物理》</a:t>
            </a: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訂 2">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EC9FF"/>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14732</TotalTime>
  <Words>4365</Words>
  <Application>Microsoft Office PowerPoint</Application>
  <PresentationFormat>寬螢幕</PresentationFormat>
  <Paragraphs>742</Paragraphs>
  <Slides>74</Slides>
  <Notes>49</Notes>
  <HiddenSlides>0</HiddenSlides>
  <MMClips>1</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74</vt:i4>
      </vt:variant>
    </vt:vector>
  </HeadingPairs>
  <TitlesOfParts>
    <vt:vector size="85" baseType="lpstr">
      <vt:lpstr>jf open 粉圓 2.0</vt:lpstr>
      <vt:lpstr>Quicksand Book</vt:lpstr>
      <vt:lpstr>華康少女文字W3(P)</vt:lpstr>
      <vt:lpstr>華康方圓體 Std W7</vt:lpstr>
      <vt:lpstr>華康平劇體 Std W7</vt:lpstr>
      <vt:lpstr>華康圓體</vt:lpstr>
      <vt:lpstr>Microsoft JhengHei</vt:lpstr>
      <vt:lpstr>Arial</vt:lpstr>
      <vt:lpstr>Calibri</vt:lpstr>
      <vt:lpstr>Wingdings</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yu</dc:creator>
  <cp:lastModifiedBy>品策部 聖元</cp:lastModifiedBy>
  <cp:revision>447</cp:revision>
  <dcterms:created xsi:type="dcterms:W3CDTF">2025-08-30T05:41:00Z</dcterms:created>
  <dcterms:modified xsi:type="dcterms:W3CDTF">2026-08-04T05:36:45Z</dcterms:modified>
</cp:coreProperties>
</file>