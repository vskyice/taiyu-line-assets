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6"/>
  </p:notesMasterIdLst>
  <p:sldIdLst>
    <p:sldId id="256" r:id="rId8"/>
    <p:sldId id="257" r:id="rId9"/>
    <p:sldId id="258" r:id="rId10"/>
    <p:sldId id="259" r:id="rId11"/>
    <p:sldId id="260" r:id="rId12"/>
    <p:sldId id="261" r:id="rId13"/>
    <p:sldId id="262" r:id="rId14"/>
    <p:sldId id="263" r:id="rId15"/>
    <p:sldId id="264"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泰宇 林" initials="泰林" lastIdx="2" clrIdx="0">
    <p:extLst>
      <p:ext uri="{19B8F6BF-5375-455C-9EA6-DF929625EA0E}">
        <p15:presenceInfo xmlns:p15="http://schemas.microsoft.com/office/powerpoint/2012/main" userId="0ad46010253d828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6E5"/>
    <a:srgbClr val="FFC000"/>
    <a:srgbClr val="FFF2CC"/>
    <a:srgbClr val="FFF6DA"/>
    <a:srgbClr val="FAA618"/>
    <a:srgbClr val="FFFFFF"/>
    <a:srgbClr val="D99325"/>
    <a:srgbClr val="EEC9FF"/>
    <a:srgbClr val="E4AD4C"/>
    <a:srgbClr val="E7BC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中等深淺樣式 1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淺色樣式 1 - 輔色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29" autoAdjust="0"/>
    <p:restoredTop sz="86465" autoAdjust="0"/>
  </p:normalViewPr>
  <p:slideViewPr>
    <p:cSldViewPr snapToGrid="0">
      <p:cViewPr>
        <p:scale>
          <a:sx n="75" d="100"/>
          <a:sy n="75" d="100"/>
        </p:scale>
        <p:origin x="2172" y="59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93" d="100"/>
        <a:sy n="93" d="100"/>
      </p:scale>
      <p:origin x="0" y="-12798"/>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76" Type="http://schemas.openxmlformats.org/officeDocument/2006/relationships/notesMaster" Target="notesMasters/notesMaster1.xml"/><Relationship Id="rId77" Type="http://schemas.openxmlformats.org/officeDocument/2006/relationships/commentAuthors" Target="commentAuthors.xml"/><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0CFE33-C5E4-45AE-8B15-97DC1300BB24}" type="datetimeFigureOut">
              <a:rPr lang="zh-TW" altLang="en-US" smtClean="0"/>
              <a:t>2026/8/4</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01EEF2-5A56-4343-A5B2-5EAB4EE77C0B}" type="slidenum">
              <a:rPr lang="zh-TW" altLang="en-US" smtClean="0"/>
              <a:t>‹#›</a:t>
            </a:fld>
            <a:endParaRPr lang="zh-TW" altLang="en-US"/>
          </a:p>
        </p:txBody>
      </p:sp>
    </p:spTree>
    <p:extLst>
      <p:ext uri="{BB962C8B-B14F-4D97-AF65-F5344CB8AC3E}">
        <p14:creationId xmlns:p14="http://schemas.microsoft.com/office/powerpoint/2010/main" val="201090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官方理由原文：for their discoveries concerning light-gated ion channels and optogenetics</a:t>
            </a:r>
          </a:p>
          <a:p>
            <a:r>
              <a:t>【來源】Press release: Nobel Prize in Physiology or Medicine 2026 https://www.nobelprize.org/prizes/medicine/2026/press-release/；Nobel Prize in Physiology or Medicine 2026 – Summary https://www.nobelprize.org/prizes/medicine/2026/summary/；2026 Nobel Prize in Physiology or Medicine awarded to Karl Deisseroth, Georg Nagel and Peter Hegemann for work on optogenetics (Scientific American) https://www.scientificamerican.com/article/2026-nobel-prize-in-physiology-or-medicine-awarded-to-karl-deisseroth-george-nagel-and-peter-hegemann-for-work-on-optogenetics/（查核 2026-10-05）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【來源】Press release: Nobel Prize in Physiology or Medicine 2026 https://www.nobelprize.org/prizes/medicine/2026/press-release/；Nobel Prize in Physiology or Medicine 2026 – Summary https://www.nobelprize.org/prizes/medicine/2026/summary/；2026 Nobel Prize in Physiology or Medicine awarded to Karl Deisseroth, Georg Nagel and Peter Hegemann for work on optogenetics (Scientific American) https://www.scientificamerican.com/article/2026-nobel-prize-in-physiology-or-medicine-awarded-to-karl-deisseroth-george-nagel-and-peter-hegemann-for-work-on-optogenetics/（查核 2026-10-05）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【來源】Press release: Nobel Prize in Physiology or Medicine 2026 https://www.nobelprize.org/prizes/medicine/2026/press-release/；Nobel Prize in Physiology or Medicine 2026 – Summary https://www.nobelprize.org/prizes/medicine/2026/summary/；2026 Nobel Prize in Physiology or Medicine awarded to Karl Deisseroth, Georg Nagel and Peter Hegemann for work on optogenetics (Scientific American) https://www.scientificamerican.com/article/2026-nobel-prize-in-physiology-or-medicine-awarded-to-karl-deisseroth-george-nagel-and-peter-hegemann-for-work-on-optogenetics/（查核 2026-10-05）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【來源】Press release: Nobel Prize in Physiology or Medicine 2026 https://www.nobelprize.org/prizes/medicine/2026/press-release/；Nobel Prize in Physiology or Medicine 2026 – Summary https://www.nobelprize.org/prizes/medicine/2026/summary/；2026 Nobel Prize in Physiology or Medicine awarded to Karl Deisseroth, Georg Nagel and Peter Hegemann for work on optogenetics (Scientific American) https://www.scientificamerican.com/article/2026-nobel-prize-in-physiology-or-medicine-awarded-to-karl-deisseroth-george-nagel-and-peter-hegemann-for-work-on-optogenetics/（查核 2026-10-05）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【來源】Press release: Nobel Prize in Physiology or Medicine 2026 https://www.nobelprize.org/prizes/medicine/2026/press-release/；Nobel Prize in Physiology or Medicine 2026 – Summary https://www.nobelprize.org/prizes/medicine/2026/summary/；2026 Nobel Prize in Physiology or Medicine awarded to Karl Deisseroth, Georg Nagel and Peter Hegemann for work on optogenetics (Scientific American) https://www.scientificamerican.com/article/2026-nobel-prize-in-physiology-or-medicine-awarded-to-karl-deisseroth-george-nagel-and-peter-hegemann-for-work-on-optogenetics/（查核 2026-10-05）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【來源】Press release: Nobel Prize in Physiology or Medicine 2026 https://www.nobelprize.org/prizes/medicine/2026/press-release/；Nobel Prize in Physiology or Medicine 2026 – Summary https://www.nobelprize.org/prizes/medicine/2026/summary/；2026 Nobel Prize in Physiology or Medicine awarded to Karl Deisseroth, Georg Nagel and Peter Hegemann for work on optogenetics (Scientific American) https://www.scientificamerican.com/article/2026-nobel-prize-in-physiology-or-medicine-awarded-to-karl-deisseroth-george-nagel-and-peter-hegemann-for-work-on-optogenetics/（查核 2026-10-05）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參考答案：1.C；2.B；3.只有被導入通道視紫質基因的神經元才會表現此感光蛋白；未被導入基因的其他神經元不會對該波長的光產生反應，因此可用光選擇性地開啟或關閉指定神經迴路。；4.發現於單細胞綠藻萊茵衣藻（Chlamydomonas）。黑格曼原本想了解這種藻類為什麼能游向光源，追查其感光機制時發現了這個會被藍光開啟的離子通道蛋白。</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對照組未導入通道視紫質基因，在相同藍光照射下沒有產生動作電位；實驗組只有「多了這個基因的表現」這一個變因，卻能被藍光觸發動作電位，故可將動作電位的出現歸因於通道視紫質的表現。</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【來源】Press release: Nobel Prize in Physiology or Medicine 2026 https://www.nobelprize.org/prizes/medicine/2026/press-release/；Nobel Prize in Physiology or Medicine 2026 – Summary https://www.nobelprize.org/prizes/medicine/2026/summary/；2026 Nobel Prize in Physiology or Medicine awarded to Karl Deisseroth, Georg Nagel and Peter Hegemann for work on optogenetics (Scientific American) https://www.scientificamerican.com/article/2026-nobel-prize-in-physiology-or-medicine-awarded-to-karl-deisseroth-george-nagel-and-peter-hegemann-for-work-on-optogenetics/（查核 2026-10-05）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157EA10-0820-44D8-B464-319BA3ECD21D}"/>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1C17A1B8-737F-4D11-BBCC-74F6FFC54A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3844C680-3FB1-4171-A57F-67540A2808FF}"/>
              </a:ext>
            </a:extLst>
          </p:cNvPr>
          <p:cNvSpPr>
            <a:spLocks noGrp="1"/>
          </p:cNvSpPr>
          <p:nvPr>
            <p:ph type="dt" sz="half" idx="10"/>
          </p:nvPr>
        </p:nvSpPr>
        <p:spPr/>
        <p:txBody>
          <a:bodyPr/>
          <a:lstStyle/>
          <a:p>
            <a:fld id="{8BB80665-8ADD-44DF-A52F-98BED6E2E402}" type="datetimeFigureOut">
              <a:rPr lang="zh-TW" altLang="en-US" smtClean="0"/>
              <a:t>2026/8/4</a:t>
            </a:fld>
            <a:endParaRPr lang="zh-TW" altLang="en-US"/>
          </a:p>
        </p:txBody>
      </p:sp>
      <p:sp>
        <p:nvSpPr>
          <p:cNvPr id="5" name="頁尾版面配置區 4">
            <a:extLst>
              <a:ext uri="{FF2B5EF4-FFF2-40B4-BE49-F238E27FC236}">
                <a16:creationId xmlns:a16="http://schemas.microsoft.com/office/drawing/2014/main" id="{F6B83B56-0903-407D-90D3-560A5861DAC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F6CA4DB-5C9B-47CE-A4DA-DE91C509E722}"/>
              </a:ext>
            </a:extLst>
          </p:cNvPr>
          <p:cNvSpPr>
            <a:spLocks noGrp="1"/>
          </p:cNvSpPr>
          <p:nvPr>
            <p:ph type="sldNum" sz="quarter" idx="12"/>
          </p:nvPr>
        </p:nvSpPr>
        <p:spPr/>
        <p:txBody>
          <a:bodyPr/>
          <a:lstStyle/>
          <a:p>
            <a:fld id="{CA36606C-0C2B-4A5F-B4A9-228D8F2D56A9}" type="slidenum">
              <a:rPr lang="zh-TW" altLang="en-US" smtClean="0"/>
              <a:t>‹#›</a:t>
            </a:fld>
            <a:endParaRPr lang="zh-TW" altLang="en-US"/>
          </a:p>
        </p:txBody>
      </p:sp>
    </p:spTree>
    <p:extLst>
      <p:ext uri="{BB962C8B-B14F-4D97-AF65-F5344CB8AC3E}">
        <p14:creationId xmlns:p14="http://schemas.microsoft.com/office/powerpoint/2010/main" val="2788983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4F66922-FC09-45F2-A28C-17159637590C}"/>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6F772873-9FA8-4F7C-9950-3BED7B95F789}"/>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49A14F3-6AED-4A32-811C-C48347537447}"/>
              </a:ext>
            </a:extLst>
          </p:cNvPr>
          <p:cNvSpPr>
            <a:spLocks noGrp="1"/>
          </p:cNvSpPr>
          <p:nvPr>
            <p:ph type="dt" sz="half" idx="10"/>
          </p:nvPr>
        </p:nvSpPr>
        <p:spPr/>
        <p:txBody>
          <a:bodyPr/>
          <a:lstStyle/>
          <a:p>
            <a:fld id="{8BB80665-8ADD-44DF-A52F-98BED6E2E402}" type="datetimeFigureOut">
              <a:rPr lang="zh-TW" altLang="en-US" smtClean="0"/>
              <a:t>2026/8/4</a:t>
            </a:fld>
            <a:endParaRPr lang="zh-TW" altLang="en-US"/>
          </a:p>
        </p:txBody>
      </p:sp>
      <p:sp>
        <p:nvSpPr>
          <p:cNvPr id="5" name="頁尾版面配置區 4">
            <a:extLst>
              <a:ext uri="{FF2B5EF4-FFF2-40B4-BE49-F238E27FC236}">
                <a16:creationId xmlns:a16="http://schemas.microsoft.com/office/drawing/2014/main" id="{BED3402F-EC84-4BD7-B157-D467B19FD1A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B80B1B5-B9F2-44BA-BC6C-584E2CAAC1B6}"/>
              </a:ext>
            </a:extLst>
          </p:cNvPr>
          <p:cNvSpPr>
            <a:spLocks noGrp="1"/>
          </p:cNvSpPr>
          <p:nvPr>
            <p:ph type="sldNum" sz="quarter" idx="12"/>
          </p:nvPr>
        </p:nvSpPr>
        <p:spPr/>
        <p:txBody>
          <a:bodyPr/>
          <a:lstStyle/>
          <a:p>
            <a:fld id="{CA36606C-0C2B-4A5F-B4A9-228D8F2D56A9}" type="slidenum">
              <a:rPr lang="zh-TW" altLang="en-US" smtClean="0"/>
              <a:t>‹#›</a:t>
            </a:fld>
            <a:endParaRPr lang="zh-TW" altLang="en-US"/>
          </a:p>
        </p:txBody>
      </p:sp>
    </p:spTree>
    <p:extLst>
      <p:ext uri="{BB962C8B-B14F-4D97-AF65-F5344CB8AC3E}">
        <p14:creationId xmlns:p14="http://schemas.microsoft.com/office/powerpoint/2010/main" val="2308908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2795C85-4C96-4EFF-B8DE-465A3100F7AC}"/>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ED07A721-AE6A-4A64-97F0-4AC1473BFB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0A160B85-71F2-41C7-AA4B-DD32908C9DEC}"/>
              </a:ext>
            </a:extLst>
          </p:cNvPr>
          <p:cNvSpPr>
            <a:spLocks noGrp="1"/>
          </p:cNvSpPr>
          <p:nvPr>
            <p:ph type="dt" sz="half" idx="10"/>
          </p:nvPr>
        </p:nvSpPr>
        <p:spPr/>
        <p:txBody>
          <a:bodyPr/>
          <a:lstStyle/>
          <a:p>
            <a:fld id="{8BB80665-8ADD-44DF-A52F-98BED6E2E402}" type="datetimeFigureOut">
              <a:rPr lang="zh-TW" altLang="en-US" smtClean="0"/>
              <a:t>2026/8/4</a:t>
            </a:fld>
            <a:endParaRPr lang="zh-TW" altLang="en-US"/>
          </a:p>
        </p:txBody>
      </p:sp>
      <p:sp>
        <p:nvSpPr>
          <p:cNvPr id="5" name="頁尾版面配置區 4">
            <a:extLst>
              <a:ext uri="{FF2B5EF4-FFF2-40B4-BE49-F238E27FC236}">
                <a16:creationId xmlns:a16="http://schemas.microsoft.com/office/drawing/2014/main" id="{557E7841-6127-44BE-876A-537AC0B5DE6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3AAACE6-8420-4086-AA7C-7C2E8914CE63}"/>
              </a:ext>
            </a:extLst>
          </p:cNvPr>
          <p:cNvSpPr>
            <a:spLocks noGrp="1"/>
          </p:cNvSpPr>
          <p:nvPr>
            <p:ph type="sldNum" sz="quarter" idx="12"/>
          </p:nvPr>
        </p:nvSpPr>
        <p:spPr/>
        <p:txBody>
          <a:bodyPr/>
          <a:lstStyle/>
          <a:p>
            <a:fld id="{CA36606C-0C2B-4A5F-B4A9-228D8F2D56A9}" type="slidenum">
              <a:rPr lang="zh-TW" altLang="en-US" smtClean="0"/>
              <a:t>‹#›</a:t>
            </a:fld>
            <a:endParaRPr lang="zh-TW" altLang="en-US"/>
          </a:p>
        </p:txBody>
      </p:sp>
    </p:spTree>
    <p:extLst>
      <p:ext uri="{BB962C8B-B14F-4D97-AF65-F5344CB8AC3E}">
        <p14:creationId xmlns:p14="http://schemas.microsoft.com/office/powerpoint/2010/main" val="19778933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C9D5BE-B9C1-4D26-AF1C-E2CE7DF29FA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1442A008-0628-4A73-B2DC-02FECDAB386D}"/>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05FFFB3A-E7C5-475D-A410-C18B808C9675}"/>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0C8C8355-BBC8-42A6-9CC4-549DD6680FB2}"/>
              </a:ext>
            </a:extLst>
          </p:cNvPr>
          <p:cNvSpPr>
            <a:spLocks noGrp="1"/>
          </p:cNvSpPr>
          <p:nvPr>
            <p:ph type="dt" sz="half" idx="10"/>
          </p:nvPr>
        </p:nvSpPr>
        <p:spPr/>
        <p:txBody>
          <a:bodyPr/>
          <a:lstStyle/>
          <a:p>
            <a:fld id="{8BB80665-8ADD-44DF-A52F-98BED6E2E402}" type="datetimeFigureOut">
              <a:rPr lang="zh-TW" altLang="en-US" smtClean="0"/>
              <a:t>2026/8/4</a:t>
            </a:fld>
            <a:endParaRPr lang="zh-TW" altLang="en-US"/>
          </a:p>
        </p:txBody>
      </p:sp>
      <p:sp>
        <p:nvSpPr>
          <p:cNvPr id="6" name="頁尾版面配置區 5">
            <a:extLst>
              <a:ext uri="{FF2B5EF4-FFF2-40B4-BE49-F238E27FC236}">
                <a16:creationId xmlns:a16="http://schemas.microsoft.com/office/drawing/2014/main" id="{AE85020C-28F5-466F-A858-BC1B89BEEB6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1F6573B-10C2-46F8-90A9-48E3ADC3A87C}"/>
              </a:ext>
            </a:extLst>
          </p:cNvPr>
          <p:cNvSpPr>
            <a:spLocks noGrp="1"/>
          </p:cNvSpPr>
          <p:nvPr>
            <p:ph type="sldNum" sz="quarter" idx="12"/>
          </p:nvPr>
        </p:nvSpPr>
        <p:spPr/>
        <p:txBody>
          <a:bodyPr/>
          <a:lstStyle/>
          <a:p>
            <a:fld id="{CA36606C-0C2B-4A5F-B4A9-228D8F2D56A9}" type="slidenum">
              <a:rPr lang="zh-TW" altLang="en-US" smtClean="0"/>
              <a:t>‹#›</a:t>
            </a:fld>
            <a:endParaRPr lang="zh-TW" altLang="en-US"/>
          </a:p>
        </p:txBody>
      </p:sp>
    </p:spTree>
    <p:extLst>
      <p:ext uri="{BB962C8B-B14F-4D97-AF65-F5344CB8AC3E}">
        <p14:creationId xmlns:p14="http://schemas.microsoft.com/office/powerpoint/2010/main" val="36242183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FF3963B-2928-4289-BECA-F912AC386FE4}"/>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5BC9B7C-0702-40E2-BB4E-C1927D8622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FEACF30C-8789-42DA-9790-7FAE506C7658}"/>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02C1260C-E934-43D0-9D65-04CC98E82A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0E3B5AA8-0649-48D4-A967-CCB444EE5DA9}"/>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253A44B1-3FE3-40E6-A638-FCCCEF1315DC}"/>
              </a:ext>
            </a:extLst>
          </p:cNvPr>
          <p:cNvSpPr>
            <a:spLocks noGrp="1"/>
          </p:cNvSpPr>
          <p:nvPr>
            <p:ph type="dt" sz="half" idx="10"/>
          </p:nvPr>
        </p:nvSpPr>
        <p:spPr/>
        <p:txBody>
          <a:bodyPr/>
          <a:lstStyle/>
          <a:p>
            <a:fld id="{8BB80665-8ADD-44DF-A52F-98BED6E2E402}" type="datetimeFigureOut">
              <a:rPr lang="zh-TW" altLang="en-US" smtClean="0"/>
              <a:t>2026/8/4</a:t>
            </a:fld>
            <a:endParaRPr lang="zh-TW" altLang="en-US"/>
          </a:p>
        </p:txBody>
      </p:sp>
      <p:sp>
        <p:nvSpPr>
          <p:cNvPr id="8" name="頁尾版面配置區 7">
            <a:extLst>
              <a:ext uri="{FF2B5EF4-FFF2-40B4-BE49-F238E27FC236}">
                <a16:creationId xmlns:a16="http://schemas.microsoft.com/office/drawing/2014/main" id="{EB94527C-D207-4C57-984E-58F55260C7CE}"/>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29044611-AC51-4954-BB57-879CA9FA1282}"/>
              </a:ext>
            </a:extLst>
          </p:cNvPr>
          <p:cNvSpPr>
            <a:spLocks noGrp="1"/>
          </p:cNvSpPr>
          <p:nvPr>
            <p:ph type="sldNum" sz="quarter" idx="12"/>
          </p:nvPr>
        </p:nvSpPr>
        <p:spPr/>
        <p:txBody>
          <a:bodyPr/>
          <a:lstStyle/>
          <a:p>
            <a:fld id="{CA36606C-0C2B-4A5F-B4A9-228D8F2D56A9}" type="slidenum">
              <a:rPr lang="zh-TW" altLang="en-US" smtClean="0"/>
              <a:t>‹#›</a:t>
            </a:fld>
            <a:endParaRPr lang="zh-TW" altLang="en-US"/>
          </a:p>
        </p:txBody>
      </p:sp>
    </p:spTree>
    <p:extLst>
      <p:ext uri="{BB962C8B-B14F-4D97-AF65-F5344CB8AC3E}">
        <p14:creationId xmlns:p14="http://schemas.microsoft.com/office/powerpoint/2010/main" val="3524206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16E6B84-BF87-4016-AB4C-82CA8F313ED1}"/>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2D277C8D-9CBA-4E25-88E7-6F95A1225A13}"/>
              </a:ext>
            </a:extLst>
          </p:cNvPr>
          <p:cNvSpPr>
            <a:spLocks noGrp="1"/>
          </p:cNvSpPr>
          <p:nvPr>
            <p:ph type="dt" sz="half" idx="10"/>
          </p:nvPr>
        </p:nvSpPr>
        <p:spPr/>
        <p:txBody>
          <a:bodyPr/>
          <a:lstStyle/>
          <a:p>
            <a:fld id="{8BB80665-8ADD-44DF-A52F-98BED6E2E402}" type="datetimeFigureOut">
              <a:rPr lang="zh-TW" altLang="en-US" smtClean="0"/>
              <a:t>2026/8/4</a:t>
            </a:fld>
            <a:endParaRPr lang="zh-TW" altLang="en-US"/>
          </a:p>
        </p:txBody>
      </p:sp>
      <p:sp>
        <p:nvSpPr>
          <p:cNvPr id="4" name="頁尾版面配置區 3">
            <a:extLst>
              <a:ext uri="{FF2B5EF4-FFF2-40B4-BE49-F238E27FC236}">
                <a16:creationId xmlns:a16="http://schemas.microsoft.com/office/drawing/2014/main" id="{159F6E63-AE2F-4EAD-BB9F-2E2D5488D2D7}"/>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88FB1F29-5C5B-49A6-8B0D-3FEA83D6DF23}"/>
              </a:ext>
            </a:extLst>
          </p:cNvPr>
          <p:cNvSpPr>
            <a:spLocks noGrp="1"/>
          </p:cNvSpPr>
          <p:nvPr>
            <p:ph type="sldNum" sz="quarter" idx="12"/>
          </p:nvPr>
        </p:nvSpPr>
        <p:spPr/>
        <p:txBody>
          <a:bodyPr/>
          <a:lstStyle/>
          <a:p>
            <a:fld id="{CA36606C-0C2B-4A5F-B4A9-228D8F2D56A9}" type="slidenum">
              <a:rPr lang="zh-TW" altLang="en-US" smtClean="0"/>
              <a:t>‹#›</a:t>
            </a:fld>
            <a:endParaRPr lang="zh-TW" altLang="en-US"/>
          </a:p>
        </p:txBody>
      </p:sp>
    </p:spTree>
    <p:extLst>
      <p:ext uri="{BB962C8B-B14F-4D97-AF65-F5344CB8AC3E}">
        <p14:creationId xmlns:p14="http://schemas.microsoft.com/office/powerpoint/2010/main" val="2254042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6E7C0EB8-EE92-427D-B00B-078594075C8B}"/>
              </a:ext>
            </a:extLst>
          </p:cNvPr>
          <p:cNvSpPr>
            <a:spLocks noGrp="1"/>
          </p:cNvSpPr>
          <p:nvPr>
            <p:ph type="dt" sz="half" idx="10"/>
          </p:nvPr>
        </p:nvSpPr>
        <p:spPr/>
        <p:txBody>
          <a:bodyPr/>
          <a:lstStyle/>
          <a:p>
            <a:fld id="{8BB80665-8ADD-44DF-A52F-98BED6E2E402}" type="datetimeFigureOut">
              <a:rPr lang="zh-TW" altLang="en-US" smtClean="0"/>
              <a:t>2026/8/4</a:t>
            </a:fld>
            <a:endParaRPr lang="zh-TW" altLang="en-US"/>
          </a:p>
        </p:txBody>
      </p:sp>
      <p:sp>
        <p:nvSpPr>
          <p:cNvPr id="3" name="頁尾版面配置區 2">
            <a:extLst>
              <a:ext uri="{FF2B5EF4-FFF2-40B4-BE49-F238E27FC236}">
                <a16:creationId xmlns:a16="http://schemas.microsoft.com/office/drawing/2014/main" id="{6C42C53A-D889-44F8-98AE-B9CA31BA5D17}"/>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905D890A-45EC-4958-8F52-6B01806A4BAC}"/>
              </a:ext>
            </a:extLst>
          </p:cNvPr>
          <p:cNvSpPr>
            <a:spLocks noGrp="1"/>
          </p:cNvSpPr>
          <p:nvPr>
            <p:ph type="sldNum" sz="quarter" idx="12"/>
          </p:nvPr>
        </p:nvSpPr>
        <p:spPr/>
        <p:txBody>
          <a:bodyPr/>
          <a:lstStyle/>
          <a:p>
            <a:fld id="{CA36606C-0C2B-4A5F-B4A9-228D8F2D56A9}" type="slidenum">
              <a:rPr lang="zh-TW" altLang="en-US" smtClean="0"/>
              <a:t>‹#›</a:t>
            </a:fld>
            <a:endParaRPr lang="zh-TW" altLang="en-US"/>
          </a:p>
        </p:txBody>
      </p:sp>
    </p:spTree>
    <p:extLst>
      <p:ext uri="{BB962C8B-B14F-4D97-AF65-F5344CB8AC3E}">
        <p14:creationId xmlns:p14="http://schemas.microsoft.com/office/powerpoint/2010/main" val="415143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E59D8DD-4AD4-401C-BC15-293E6E33369F}"/>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4AC94CFB-093F-4742-BB22-F872311C14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9568D877-384A-4370-A132-4B71F8C66C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D29FB132-8198-4084-8444-C4B821AA4919}"/>
              </a:ext>
            </a:extLst>
          </p:cNvPr>
          <p:cNvSpPr>
            <a:spLocks noGrp="1"/>
          </p:cNvSpPr>
          <p:nvPr>
            <p:ph type="dt" sz="half" idx="10"/>
          </p:nvPr>
        </p:nvSpPr>
        <p:spPr/>
        <p:txBody>
          <a:bodyPr/>
          <a:lstStyle/>
          <a:p>
            <a:fld id="{8BB80665-8ADD-44DF-A52F-98BED6E2E402}" type="datetimeFigureOut">
              <a:rPr lang="zh-TW" altLang="en-US" smtClean="0"/>
              <a:t>2026/8/4</a:t>
            </a:fld>
            <a:endParaRPr lang="zh-TW" altLang="en-US"/>
          </a:p>
        </p:txBody>
      </p:sp>
      <p:sp>
        <p:nvSpPr>
          <p:cNvPr id="6" name="頁尾版面配置區 5">
            <a:extLst>
              <a:ext uri="{FF2B5EF4-FFF2-40B4-BE49-F238E27FC236}">
                <a16:creationId xmlns:a16="http://schemas.microsoft.com/office/drawing/2014/main" id="{54CFF3F2-4E47-4765-B93B-AC5F8C8FC55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15D3AE2-8DCD-45E7-9C5C-40FCA437B2EF}"/>
              </a:ext>
            </a:extLst>
          </p:cNvPr>
          <p:cNvSpPr>
            <a:spLocks noGrp="1"/>
          </p:cNvSpPr>
          <p:nvPr>
            <p:ph type="sldNum" sz="quarter" idx="12"/>
          </p:nvPr>
        </p:nvSpPr>
        <p:spPr/>
        <p:txBody>
          <a:bodyPr/>
          <a:lstStyle/>
          <a:p>
            <a:fld id="{CA36606C-0C2B-4A5F-B4A9-228D8F2D56A9}" type="slidenum">
              <a:rPr lang="zh-TW" altLang="en-US" smtClean="0"/>
              <a:t>‹#›</a:t>
            </a:fld>
            <a:endParaRPr lang="zh-TW" altLang="en-US"/>
          </a:p>
        </p:txBody>
      </p:sp>
    </p:spTree>
    <p:extLst>
      <p:ext uri="{BB962C8B-B14F-4D97-AF65-F5344CB8AC3E}">
        <p14:creationId xmlns:p14="http://schemas.microsoft.com/office/powerpoint/2010/main" val="27781427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3DCE6-2959-471C-8AF3-14437890ACE7}"/>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8FA1BBCD-72E9-4845-8C06-08E9B72D23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E6699CD7-28AA-4D3B-A2A0-5455B33E5E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53E75C03-9176-4F7F-AC99-B7063B24DC1B}"/>
              </a:ext>
            </a:extLst>
          </p:cNvPr>
          <p:cNvSpPr>
            <a:spLocks noGrp="1"/>
          </p:cNvSpPr>
          <p:nvPr>
            <p:ph type="dt" sz="half" idx="10"/>
          </p:nvPr>
        </p:nvSpPr>
        <p:spPr/>
        <p:txBody>
          <a:bodyPr/>
          <a:lstStyle/>
          <a:p>
            <a:fld id="{8BB80665-8ADD-44DF-A52F-98BED6E2E402}" type="datetimeFigureOut">
              <a:rPr lang="zh-TW" altLang="en-US" smtClean="0"/>
              <a:t>2026/8/4</a:t>
            </a:fld>
            <a:endParaRPr lang="zh-TW" altLang="en-US"/>
          </a:p>
        </p:txBody>
      </p:sp>
      <p:sp>
        <p:nvSpPr>
          <p:cNvPr id="6" name="頁尾版面配置區 5">
            <a:extLst>
              <a:ext uri="{FF2B5EF4-FFF2-40B4-BE49-F238E27FC236}">
                <a16:creationId xmlns:a16="http://schemas.microsoft.com/office/drawing/2014/main" id="{A2A0EE53-F08E-46D8-A0A4-1FB87748D20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390A02C-6276-4A97-9190-B21F8309231D}"/>
              </a:ext>
            </a:extLst>
          </p:cNvPr>
          <p:cNvSpPr>
            <a:spLocks noGrp="1"/>
          </p:cNvSpPr>
          <p:nvPr>
            <p:ph type="sldNum" sz="quarter" idx="12"/>
          </p:nvPr>
        </p:nvSpPr>
        <p:spPr/>
        <p:txBody>
          <a:bodyPr/>
          <a:lstStyle/>
          <a:p>
            <a:fld id="{CA36606C-0C2B-4A5F-B4A9-228D8F2D56A9}" type="slidenum">
              <a:rPr lang="zh-TW" altLang="en-US" smtClean="0"/>
              <a:t>‹#›</a:t>
            </a:fld>
            <a:endParaRPr lang="zh-TW" altLang="en-US"/>
          </a:p>
        </p:txBody>
      </p:sp>
    </p:spTree>
    <p:extLst>
      <p:ext uri="{BB962C8B-B14F-4D97-AF65-F5344CB8AC3E}">
        <p14:creationId xmlns:p14="http://schemas.microsoft.com/office/powerpoint/2010/main" val="2177157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E49B7D4-3C20-4060-B9CC-25B2AD41B702}"/>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ADB850A8-702B-4D42-BFA2-B489D11396AD}"/>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D58CDC4-CBB1-46AF-B53F-A175D368B0F1}"/>
              </a:ext>
            </a:extLst>
          </p:cNvPr>
          <p:cNvSpPr>
            <a:spLocks noGrp="1"/>
          </p:cNvSpPr>
          <p:nvPr>
            <p:ph type="dt" sz="half" idx="10"/>
          </p:nvPr>
        </p:nvSpPr>
        <p:spPr/>
        <p:txBody>
          <a:bodyPr/>
          <a:lstStyle/>
          <a:p>
            <a:fld id="{8BB80665-8ADD-44DF-A52F-98BED6E2E402}" type="datetimeFigureOut">
              <a:rPr lang="zh-TW" altLang="en-US" smtClean="0"/>
              <a:t>2026/8/4</a:t>
            </a:fld>
            <a:endParaRPr lang="zh-TW" altLang="en-US"/>
          </a:p>
        </p:txBody>
      </p:sp>
      <p:sp>
        <p:nvSpPr>
          <p:cNvPr id="5" name="頁尾版面配置區 4">
            <a:extLst>
              <a:ext uri="{FF2B5EF4-FFF2-40B4-BE49-F238E27FC236}">
                <a16:creationId xmlns:a16="http://schemas.microsoft.com/office/drawing/2014/main" id="{E184A7F8-85F2-4E85-8134-692D107AAAA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BD1C066-43C0-4D8B-BFA9-041D2CB500E1}"/>
              </a:ext>
            </a:extLst>
          </p:cNvPr>
          <p:cNvSpPr>
            <a:spLocks noGrp="1"/>
          </p:cNvSpPr>
          <p:nvPr>
            <p:ph type="sldNum" sz="quarter" idx="12"/>
          </p:nvPr>
        </p:nvSpPr>
        <p:spPr/>
        <p:txBody>
          <a:bodyPr/>
          <a:lstStyle/>
          <a:p>
            <a:fld id="{CA36606C-0C2B-4A5F-B4A9-228D8F2D56A9}" type="slidenum">
              <a:rPr lang="zh-TW" altLang="en-US" smtClean="0"/>
              <a:t>‹#›</a:t>
            </a:fld>
            <a:endParaRPr lang="zh-TW" altLang="en-US"/>
          </a:p>
        </p:txBody>
      </p:sp>
    </p:spTree>
    <p:extLst>
      <p:ext uri="{BB962C8B-B14F-4D97-AF65-F5344CB8AC3E}">
        <p14:creationId xmlns:p14="http://schemas.microsoft.com/office/powerpoint/2010/main" val="2717124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833A317E-5491-4BDE-94D8-43BBE4881BFA}"/>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06A28FF6-8E2A-453F-97BF-3D2240702625}"/>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1865E98-C534-48F4-AEA3-46A918773FA1}"/>
              </a:ext>
            </a:extLst>
          </p:cNvPr>
          <p:cNvSpPr>
            <a:spLocks noGrp="1"/>
          </p:cNvSpPr>
          <p:nvPr>
            <p:ph type="dt" sz="half" idx="10"/>
          </p:nvPr>
        </p:nvSpPr>
        <p:spPr/>
        <p:txBody>
          <a:bodyPr/>
          <a:lstStyle/>
          <a:p>
            <a:fld id="{8BB80665-8ADD-44DF-A52F-98BED6E2E402}" type="datetimeFigureOut">
              <a:rPr lang="zh-TW" altLang="en-US" smtClean="0"/>
              <a:t>2026/8/4</a:t>
            </a:fld>
            <a:endParaRPr lang="zh-TW" altLang="en-US"/>
          </a:p>
        </p:txBody>
      </p:sp>
      <p:sp>
        <p:nvSpPr>
          <p:cNvPr id="5" name="頁尾版面配置區 4">
            <a:extLst>
              <a:ext uri="{FF2B5EF4-FFF2-40B4-BE49-F238E27FC236}">
                <a16:creationId xmlns:a16="http://schemas.microsoft.com/office/drawing/2014/main" id="{3F1F2824-4EA0-464C-B015-CF253D81ECB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33C451C-A236-4642-BACC-3393EEB046EE}"/>
              </a:ext>
            </a:extLst>
          </p:cNvPr>
          <p:cNvSpPr>
            <a:spLocks noGrp="1"/>
          </p:cNvSpPr>
          <p:nvPr>
            <p:ph type="sldNum" sz="quarter" idx="12"/>
          </p:nvPr>
        </p:nvSpPr>
        <p:spPr/>
        <p:txBody>
          <a:bodyPr/>
          <a:lstStyle/>
          <a:p>
            <a:fld id="{CA36606C-0C2B-4A5F-B4A9-228D8F2D56A9}" type="slidenum">
              <a:rPr lang="zh-TW" altLang="en-US" smtClean="0"/>
              <a:t>‹#›</a:t>
            </a:fld>
            <a:endParaRPr lang="zh-TW" altLang="en-US"/>
          </a:p>
        </p:txBody>
      </p:sp>
    </p:spTree>
    <p:extLst>
      <p:ext uri="{BB962C8B-B14F-4D97-AF65-F5344CB8AC3E}">
        <p14:creationId xmlns:p14="http://schemas.microsoft.com/office/powerpoint/2010/main" val="139213382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95DF7E9D-0018-4E09-8C4C-789E2BAEBD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4AD8308A-F5AF-40D0-8E9F-84CA63AE57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BB165CCE-B56E-4D0A-A387-A236024B1F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B80665-8ADD-44DF-A52F-98BED6E2E402}" type="datetimeFigureOut">
              <a:rPr lang="zh-TW" altLang="en-US" smtClean="0"/>
              <a:t>2026/8/4</a:t>
            </a:fld>
            <a:endParaRPr lang="zh-TW" altLang="en-US"/>
          </a:p>
        </p:txBody>
      </p:sp>
      <p:sp>
        <p:nvSpPr>
          <p:cNvPr id="5" name="頁尾版面配置區 4">
            <a:extLst>
              <a:ext uri="{FF2B5EF4-FFF2-40B4-BE49-F238E27FC236}">
                <a16:creationId xmlns:a16="http://schemas.microsoft.com/office/drawing/2014/main" id="{D1B0B665-366A-4DB7-8167-544D81AD2E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BC1BCE28-53E3-49FA-BA34-A2387491F8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36606C-0C2B-4A5F-B4A9-228D8F2D56A9}" type="slidenum">
              <a:rPr lang="zh-TW" altLang="en-US" smtClean="0"/>
              <a:t>‹#›</a:t>
            </a:fld>
            <a:endParaRPr lang="zh-TW" altLang="en-US"/>
          </a:p>
        </p:txBody>
      </p:sp>
    </p:spTree>
    <p:extLst>
      <p:ext uri="{BB962C8B-B14F-4D97-AF65-F5344CB8AC3E}">
        <p14:creationId xmlns:p14="http://schemas.microsoft.com/office/powerpoint/2010/main" val="22955055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1000" y="285750"/>
            <a:ext cx="95250" cy="495300"/>
          </a:xfrm>
          <a:prstGeom prst="rect">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209550"/>
            <a:ext cx="7620000" cy="628650"/>
          </a:xfrm>
          <a:prstGeom prst="rect">
            <a:avLst/>
          </a:prstGeom>
          <a:noFill/>
        </p:spPr>
        <p:txBody>
          <a:bodyPr wrap="square" anchor="ctr" lIns="38100" rIns="38100" tIns="19050" bIns="19050">
            <a:spAutoFit/>
          </a:bodyPr>
          <a:lstStyle/>
          <a:p>
            <a:pPr algn="l">
              <a:lnSpc>
                <a:spcPct val="130000"/>
              </a:lnSpc>
            </a:pPr>
            <a:r>
              <a:rPr sz="3400" b="1">
                <a:solidFill>
                  <a:srgbClr val="000000"/>
                </a:solidFill>
                <a:latin typeface="微軟正黑體"/>
                <a:ea typeface="微軟正黑體"/>
                <a:cs typeface="微軟正黑體"/>
              </a:rPr>
              <a:t>2026 諾貝爾生醫獎揭曉</a:t>
            </a:r>
          </a:p>
        </p:txBody>
      </p:sp>
      <p:sp>
        <p:nvSpPr>
          <p:cNvPr id="5" name="TextBox 4"/>
          <p:cNvSpPr txBox="1"/>
          <p:nvPr/>
        </p:nvSpPr>
        <p:spPr>
          <a:xfrm>
            <a:off x="8191500" y="361950"/>
            <a:ext cx="3619500" cy="323850"/>
          </a:xfrm>
          <a:prstGeom prst="rect">
            <a:avLst/>
          </a:prstGeom>
          <a:noFill/>
        </p:spPr>
        <p:txBody>
          <a:bodyPr wrap="square" anchor="ctr" lIns="38100" rIns="38100" tIns="19050" bIns="19050">
            <a:spAutoFit/>
          </a:bodyPr>
          <a:lstStyle/>
          <a:p>
            <a:pPr algn="r">
              <a:lnSpc>
                <a:spcPct val="130000"/>
              </a:lnSpc>
            </a:pPr>
            <a:r>
              <a:rPr sz="1600" b="0">
                <a:solidFill>
                  <a:srgbClr val="7F7F7F"/>
                </a:solidFill>
                <a:latin typeface="微軟正黑體"/>
                <a:ea typeface="微軟正黑體"/>
                <a:cs typeface="微軟正黑體"/>
              </a:rPr>
              <a:t>課本 3-1 神經系統</a:t>
            </a:r>
          </a:p>
        </p:txBody>
      </p:sp>
      <p:sp>
        <p:nvSpPr>
          <p:cNvPr id="6" name="Rectangle 5"/>
          <p:cNvSpPr/>
          <p:nvPr/>
        </p:nvSpPr>
        <p:spPr>
          <a:xfrm>
            <a:off x="381000" y="952500"/>
            <a:ext cx="11430000" cy="1905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600" y="1333500"/>
            <a:ext cx="11049000" cy="571500"/>
          </a:xfrm>
          <a:prstGeom prst="rect">
            <a:avLst/>
          </a:prstGeom>
          <a:noFill/>
        </p:spPr>
        <p:txBody>
          <a:bodyPr wrap="square" anchor="t" lIns="38100" rIns="38100" tIns="19050" bIns="19050">
            <a:spAutoFit/>
          </a:bodyPr>
          <a:lstStyle/>
          <a:p>
            <a:pPr algn="l">
              <a:lnSpc>
                <a:spcPct val="130000"/>
              </a:lnSpc>
            </a:pPr>
            <a:r>
              <a:rPr sz="4000" b="1">
                <a:solidFill>
                  <a:srgbClr val="F25821"/>
                </a:solidFill>
                <a:latin typeface="微軟正黑體"/>
                <a:ea typeface="微軟正黑體"/>
                <a:cs typeface="微軟正黑體"/>
              </a:rPr>
              <a:t>光遺傳學與光控離子通道</a:t>
            </a:r>
          </a:p>
        </p:txBody>
      </p:sp>
      <p:sp>
        <p:nvSpPr>
          <p:cNvPr id="8" name="TextBox 7"/>
          <p:cNvSpPr txBox="1"/>
          <p:nvPr/>
        </p:nvSpPr>
        <p:spPr>
          <a:xfrm>
            <a:off x="609600" y="2000250"/>
            <a:ext cx="11049000" cy="571500"/>
          </a:xfrm>
          <a:prstGeom prst="rect">
            <a:avLst/>
          </a:prstGeom>
          <a:noFill/>
        </p:spPr>
        <p:txBody>
          <a:bodyPr wrap="square" anchor="t" lIns="38100" rIns="38100" tIns="19050" bIns="19050">
            <a:spAutoFit/>
          </a:bodyPr>
          <a:lstStyle/>
          <a:p>
            <a:pPr algn="l">
              <a:lnSpc>
                <a:spcPct val="130000"/>
              </a:lnSpc>
            </a:pPr>
            <a:r>
              <a:rPr sz="2400" b="1">
                <a:solidFill>
                  <a:srgbClr val="000000"/>
                </a:solidFill>
                <a:latin typeface="微軟正黑體"/>
                <a:ea typeface="微軟正黑體"/>
                <a:cs typeface="微軟正黑體"/>
              </a:rPr>
              <a:t>把會感光的藻類蛋白塞進神經元，用藍光當開關精準控制神經訊號。</a:t>
            </a:r>
          </a:p>
        </p:txBody>
      </p:sp>
      <p:sp>
        <p:nvSpPr>
          <p:cNvPr id="9" name="TextBox 8"/>
          <p:cNvSpPr txBox="1"/>
          <p:nvPr/>
        </p:nvSpPr>
        <p:spPr>
          <a:xfrm>
            <a:off x="609600" y="2686050"/>
            <a:ext cx="11049000" cy="381000"/>
          </a:xfrm>
          <a:prstGeom prst="rect">
            <a:avLst/>
          </a:prstGeom>
          <a:noFill/>
        </p:spPr>
        <p:txBody>
          <a:bodyPr wrap="square" anchor="t" lIns="38100" rIns="38100" tIns="19050" bIns="19050">
            <a:spAutoFit/>
          </a:bodyPr>
          <a:lstStyle/>
          <a:p>
            <a:pPr algn="l">
              <a:lnSpc>
                <a:spcPct val="130000"/>
              </a:lnSpc>
            </a:pPr>
            <a:r>
              <a:rPr sz="2000" b="0">
                <a:solidFill>
                  <a:srgbClr val="7F7F7F"/>
                </a:solidFill>
                <a:latin typeface="微軟正黑體"/>
                <a:ea typeface="微軟正黑體"/>
                <a:cs typeface="微軟正黑體"/>
              </a:rPr>
              <a:t>得獎者</a:t>
            </a:r>
          </a:p>
        </p:txBody>
      </p:sp>
      <p:sp>
        <p:nvSpPr>
          <p:cNvPr id="10" name="TextBox 9"/>
          <p:cNvSpPr txBox="1"/>
          <p:nvPr/>
        </p:nvSpPr>
        <p:spPr>
          <a:xfrm>
            <a:off x="609600" y="3028950"/>
            <a:ext cx="11049000" cy="1047750"/>
          </a:xfrm>
          <a:prstGeom prst="rect">
            <a:avLst/>
          </a:prstGeom>
          <a:noFill/>
        </p:spPr>
        <p:txBody>
          <a:bodyPr wrap="square" anchor="t" lIns="38100" rIns="38100" tIns="19050" bIns="19050">
            <a:spAutoFit/>
          </a:bodyPr>
          <a:lstStyle/>
          <a:p>
            <a:pPr algn="l">
              <a:lnSpc>
                <a:spcPct val="140000"/>
              </a:lnSpc>
            </a:pPr>
            <a:r>
              <a:rPr sz="2400" b="0">
                <a:solidFill>
                  <a:srgbClr val="000000"/>
                </a:solidFill>
                <a:latin typeface="微軟正黑體"/>
                <a:ea typeface="微軟正黑體"/>
                <a:cs typeface="微軟正黑體"/>
              </a:rPr>
              <a:t>卡爾·戴瑟羅斯（Karl Deisseroth）、彼得·黑格曼（Peter Hegemann）、格奧爾格·納格爾（Georg Nagel）</a:t>
            </a:r>
          </a:p>
        </p:txBody>
      </p:sp>
      <p:sp>
        <p:nvSpPr>
          <p:cNvPr id="11" name="Rectangle 10"/>
          <p:cNvSpPr/>
          <p:nvPr/>
        </p:nvSpPr>
        <p:spPr>
          <a:xfrm>
            <a:off x="609600" y="4286250"/>
            <a:ext cx="11049000" cy="1238250"/>
          </a:xfrm>
          <a:prstGeom prst="rect">
            <a:avLst/>
          </a:prstGeom>
          <a:solidFill>
            <a:srgbClr val="FFF4E6"/>
          </a:solidFill>
          <a:ln w="57150">
            <a:solidFill>
              <a:srgbClr val="F258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2950" y="4352925"/>
            <a:ext cx="10782300" cy="1104900"/>
          </a:xfrm>
          <a:prstGeom prst="rect">
            <a:avLst/>
          </a:prstGeom>
          <a:noFill/>
        </p:spPr>
        <p:txBody>
          <a:bodyPr wrap="square" anchor="ctr" lIns="38100" rIns="38100" tIns="19050" bIns="19050">
            <a:spAutoFit/>
          </a:bodyPr>
          <a:lstStyle/>
          <a:p>
            <a:pPr algn="l">
              <a:lnSpc>
                <a:spcPct val="130000"/>
              </a:lnSpc>
            </a:pPr>
            <a:r>
              <a:rPr sz="2000" b="0">
                <a:solidFill>
                  <a:srgbClr val="000000"/>
                </a:solidFill>
                <a:latin typeface="華康圓體 Std W7"/>
                <a:ea typeface="華康圓體 Std W7"/>
                <a:cs typeface="華康圓體 Std W7"/>
              </a:rPr>
              <a:t>官方理由：表彰他們對「光控離子通道」及「光遺傳學」的發現</a:t>
            </a:r>
          </a:p>
        </p:txBody>
      </p:sp>
      <p:sp>
        <p:nvSpPr>
          <p:cNvPr id="13" name="TextBox 12"/>
          <p:cNvSpPr txBox="1"/>
          <p:nvPr/>
        </p:nvSpPr>
        <p:spPr>
          <a:xfrm>
            <a:off x="361950" y="6419850"/>
            <a:ext cx="11468100" cy="266700"/>
          </a:xfrm>
          <a:prstGeom prst="rect">
            <a:avLst/>
          </a:prstGeom>
          <a:noFill/>
        </p:spPr>
        <p:txBody>
          <a:bodyPr wrap="square" anchor="t" lIns="38100" rIns="38100" tIns="19050" bIns="19050">
            <a:spAutoFit/>
          </a:bodyPr>
          <a:lstStyle/>
          <a:p>
            <a:pPr algn="l">
              <a:lnSpc>
                <a:spcPct val="130000"/>
              </a:lnSpc>
            </a:pPr>
            <a:r>
              <a:rPr sz="1400" b="0">
                <a:solidFill>
                  <a:srgbClr val="7F7F7F"/>
                </a:solidFill>
                <a:latin typeface="微軟正黑體"/>
                <a:ea typeface="微軟正黑體"/>
                <a:cs typeface="微軟正黑體"/>
              </a:rPr>
              <a:t>諾貝爾基金會 2026-10-05 公告</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1000" y="285750"/>
            <a:ext cx="95250" cy="495300"/>
          </a:xfrm>
          <a:prstGeom prst="rect">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209550"/>
            <a:ext cx="7620000" cy="628650"/>
          </a:xfrm>
          <a:prstGeom prst="rect">
            <a:avLst/>
          </a:prstGeom>
          <a:noFill/>
        </p:spPr>
        <p:txBody>
          <a:bodyPr wrap="square" anchor="ctr" lIns="38100" rIns="38100" tIns="19050" bIns="19050">
            <a:spAutoFit/>
          </a:bodyPr>
          <a:lstStyle/>
          <a:p>
            <a:pPr algn="l">
              <a:lnSpc>
                <a:spcPct val="130000"/>
              </a:lnSpc>
            </a:pPr>
            <a:r>
              <a:rPr sz="3400" b="1">
                <a:solidFill>
                  <a:srgbClr val="000000"/>
                </a:solidFill>
                <a:latin typeface="微軟正黑體"/>
                <a:ea typeface="微軟正黑體"/>
                <a:cs typeface="微軟正黑體"/>
              </a:rPr>
              <a:t>解決什麼問題</a:t>
            </a:r>
          </a:p>
        </p:txBody>
      </p:sp>
      <p:sp>
        <p:nvSpPr>
          <p:cNvPr id="5" name="TextBox 4"/>
          <p:cNvSpPr txBox="1"/>
          <p:nvPr/>
        </p:nvSpPr>
        <p:spPr>
          <a:xfrm>
            <a:off x="8191500" y="361950"/>
            <a:ext cx="3619500" cy="323850"/>
          </a:xfrm>
          <a:prstGeom prst="rect">
            <a:avLst/>
          </a:prstGeom>
          <a:noFill/>
        </p:spPr>
        <p:txBody>
          <a:bodyPr wrap="square" anchor="ctr" lIns="38100" rIns="38100" tIns="19050" bIns="19050">
            <a:spAutoFit/>
          </a:bodyPr>
          <a:lstStyle/>
          <a:p>
            <a:pPr algn="r">
              <a:lnSpc>
                <a:spcPct val="130000"/>
              </a:lnSpc>
            </a:pPr>
            <a:r>
              <a:rPr sz="1600" b="0">
                <a:solidFill>
                  <a:srgbClr val="7F7F7F"/>
                </a:solidFill>
                <a:latin typeface="微軟正黑體"/>
                <a:ea typeface="微軟正黑體"/>
                <a:cs typeface="微軟正黑體"/>
              </a:rPr>
              <a:t>課本 3-1 神經系統</a:t>
            </a:r>
          </a:p>
        </p:txBody>
      </p:sp>
      <p:sp>
        <p:nvSpPr>
          <p:cNvPr id="6" name="Rectangle 5"/>
          <p:cNvSpPr/>
          <p:nvPr/>
        </p:nvSpPr>
        <p:spPr>
          <a:xfrm>
            <a:off x="381000" y="952500"/>
            <a:ext cx="11430000" cy="1905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09600" y="1485900"/>
            <a:ext cx="533400" cy="533400"/>
          </a:xfrm>
          <a:prstGeom prst="ellipse">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微軟正黑體"/>
                <a:ea typeface="微軟正黑體"/>
                <a:cs typeface="微軟正黑體"/>
              </a:rPr>
              <a:t>1</a:t>
            </a:r>
          </a:p>
        </p:txBody>
      </p:sp>
      <p:sp>
        <p:nvSpPr>
          <p:cNvPr id="8" name="TextBox 7"/>
          <p:cNvSpPr txBox="1"/>
          <p:nvPr/>
        </p:nvSpPr>
        <p:spPr>
          <a:xfrm>
            <a:off x="1333500" y="1428750"/>
            <a:ext cx="10325100" cy="3143250"/>
          </a:xfrm>
          <a:prstGeom prst="rect">
            <a:avLst/>
          </a:prstGeom>
          <a:noFill/>
        </p:spPr>
        <p:txBody>
          <a:bodyPr wrap="square" anchor="t" lIns="38100" rIns="38100" tIns="19050" bIns="19050">
            <a:spAutoFit/>
          </a:bodyPr>
          <a:lstStyle/>
          <a:p>
            <a:pPr algn="l">
              <a:lnSpc>
                <a:spcPct val="160000"/>
              </a:lnSpc>
            </a:pPr>
            <a:r>
              <a:rPr sz="2400" b="0">
                <a:solidFill>
                  <a:srgbClr val="000000"/>
                </a:solidFill>
                <a:latin typeface="微軟正黑體"/>
                <a:ea typeface="微軟正黑體"/>
                <a:cs typeface="微軟正黑體"/>
              </a:rPr>
              <a:t>長久以來，科學家只能間接推測哪一群神經元負責哪種記憶、情緒或行為。傳統電刺激會同時激發附近所有神經元，無法指定目標，使腦部功能地圖像一張到處都是問號的草圖，難以建立「某神經活動→某行為」的因果證據。</a:t>
            </a:r>
          </a:p>
        </p:txBody>
      </p:sp>
      <p:sp>
        <p:nvSpPr>
          <p:cNvPr id="9" name="TextBox 8"/>
          <p:cNvSpPr txBox="1"/>
          <p:nvPr/>
        </p:nvSpPr>
        <p:spPr>
          <a:xfrm>
            <a:off x="361950" y="6419850"/>
            <a:ext cx="11468100" cy="266700"/>
          </a:xfrm>
          <a:prstGeom prst="rect">
            <a:avLst/>
          </a:prstGeom>
          <a:noFill/>
        </p:spPr>
        <p:txBody>
          <a:bodyPr wrap="square" anchor="t" lIns="38100" rIns="38100" tIns="19050" bIns="19050">
            <a:spAutoFit/>
          </a:bodyPr>
          <a:lstStyle/>
          <a:p>
            <a:pPr algn="l">
              <a:lnSpc>
                <a:spcPct val="130000"/>
              </a:lnSpc>
            </a:pPr>
            <a:r>
              <a:rPr sz="1400" b="0">
                <a:solidFill>
                  <a:srgbClr val="7F7F7F"/>
                </a:solidFill>
                <a:latin typeface="微軟正黑體"/>
                <a:ea typeface="微軟正黑體"/>
                <a:cs typeface="微軟正黑體"/>
              </a:rPr>
              <a:t>依官方新聞稿與科學背景說明整理</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1000" y="285750"/>
            <a:ext cx="95250" cy="495300"/>
          </a:xfrm>
          <a:prstGeom prst="rect">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209550"/>
            <a:ext cx="7620000" cy="628650"/>
          </a:xfrm>
          <a:prstGeom prst="rect">
            <a:avLst/>
          </a:prstGeom>
          <a:noFill/>
        </p:spPr>
        <p:txBody>
          <a:bodyPr wrap="square" anchor="ctr" lIns="38100" rIns="38100" tIns="19050" bIns="19050">
            <a:spAutoFit/>
          </a:bodyPr>
          <a:lstStyle/>
          <a:p>
            <a:pPr algn="l">
              <a:lnSpc>
                <a:spcPct val="130000"/>
              </a:lnSpc>
            </a:pPr>
            <a:r>
              <a:rPr sz="3400" b="1">
                <a:solidFill>
                  <a:srgbClr val="000000"/>
                </a:solidFill>
                <a:latin typeface="微軟正黑體"/>
                <a:ea typeface="微軟正黑體"/>
                <a:cs typeface="微軟正黑體"/>
              </a:rPr>
              <a:t>怎麼做到</a:t>
            </a:r>
          </a:p>
        </p:txBody>
      </p:sp>
      <p:sp>
        <p:nvSpPr>
          <p:cNvPr id="5" name="TextBox 4"/>
          <p:cNvSpPr txBox="1"/>
          <p:nvPr/>
        </p:nvSpPr>
        <p:spPr>
          <a:xfrm>
            <a:off x="8191500" y="361950"/>
            <a:ext cx="3619500" cy="323850"/>
          </a:xfrm>
          <a:prstGeom prst="rect">
            <a:avLst/>
          </a:prstGeom>
          <a:noFill/>
        </p:spPr>
        <p:txBody>
          <a:bodyPr wrap="square" anchor="ctr" lIns="38100" rIns="38100" tIns="19050" bIns="19050">
            <a:spAutoFit/>
          </a:bodyPr>
          <a:lstStyle/>
          <a:p>
            <a:pPr algn="r">
              <a:lnSpc>
                <a:spcPct val="130000"/>
              </a:lnSpc>
            </a:pPr>
            <a:r>
              <a:rPr sz="1600" b="0">
                <a:solidFill>
                  <a:srgbClr val="7F7F7F"/>
                </a:solidFill>
                <a:latin typeface="微軟正黑體"/>
                <a:ea typeface="微軟正黑體"/>
                <a:cs typeface="微軟正黑體"/>
              </a:rPr>
              <a:t>課本 3-1 神經系統</a:t>
            </a:r>
          </a:p>
        </p:txBody>
      </p:sp>
      <p:sp>
        <p:nvSpPr>
          <p:cNvPr id="6" name="Rectangle 5"/>
          <p:cNvSpPr/>
          <p:nvPr/>
        </p:nvSpPr>
        <p:spPr>
          <a:xfrm>
            <a:off x="381000" y="952500"/>
            <a:ext cx="11430000" cy="1905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09600" y="1485900"/>
            <a:ext cx="533400" cy="533400"/>
          </a:xfrm>
          <a:prstGeom prst="ellipse">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微軟正黑體"/>
                <a:ea typeface="微軟正黑體"/>
                <a:cs typeface="微軟正黑體"/>
              </a:rPr>
              <a:t>2</a:t>
            </a:r>
          </a:p>
        </p:txBody>
      </p:sp>
      <p:sp>
        <p:nvSpPr>
          <p:cNvPr id="8" name="TextBox 7"/>
          <p:cNvSpPr txBox="1"/>
          <p:nvPr/>
        </p:nvSpPr>
        <p:spPr>
          <a:xfrm>
            <a:off x="1333500" y="1428750"/>
            <a:ext cx="10325100" cy="3143250"/>
          </a:xfrm>
          <a:prstGeom prst="rect">
            <a:avLst/>
          </a:prstGeom>
          <a:noFill/>
        </p:spPr>
        <p:txBody>
          <a:bodyPr wrap="square" anchor="t" lIns="38100" rIns="38100" tIns="19050" bIns="19050">
            <a:spAutoFit/>
          </a:bodyPr>
          <a:lstStyle/>
          <a:p>
            <a:pPr algn="l">
              <a:lnSpc>
                <a:spcPct val="160000"/>
              </a:lnSpc>
            </a:pPr>
            <a:r>
              <a:rPr sz="2400" b="0">
                <a:solidFill>
                  <a:srgbClr val="000000"/>
                </a:solidFill>
                <a:latin typeface="微軟正黑體"/>
                <a:ea typeface="微軟正黑體"/>
                <a:cs typeface="微軟正黑體"/>
              </a:rPr>
              <a:t>黑格曼與納格爾在單細胞藻類萊茵衣藻（Chlamydomonas）身上找到「通道視紫質」（channelrhodopsin）：這個膜蛋白一照到藍光就會打開離子通道，讓離子流入細胞。戴瑟羅斯進一步把這個基因導入大鼠神經細胞，照藍光就能讓指定神經元產生動作電位。</a:t>
            </a:r>
          </a:p>
        </p:txBody>
      </p:sp>
      <p:sp>
        <p:nvSpPr>
          <p:cNvPr id="9" name="TextBox 8"/>
          <p:cNvSpPr txBox="1"/>
          <p:nvPr/>
        </p:nvSpPr>
        <p:spPr>
          <a:xfrm>
            <a:off x="361950" y="6419850"/>
            <a:ext cx="11468100" cy="266700"/>
          </a:xfrm>
          <a:prstGeom prst="rect">
            <a:avLst/>
          </a:prstGeom>
          <a:noFill/>
        </p:spPr>
        <p:txBody>
          <a:bodyPr wrap="square" anchor="t" lIns="38100" rIns="38100" tIns="19050" bIns="19050">
            <a:spAutoFit/>
          </a:bodyPr>
          <a:lstStyle/>
          <a:p>
            <a:pPr algn="l">
              <a:lnSpc>
                <a:spcPct val="130000"/>
              </a:lnSpc>
            </a:pPr>
            <a:r>
              <a:rPr sz="1400" b="0">
                <a:solidFill>
                  <a:srgbClr val="7F7F7F"/>
                </a:solidFill>
                <a:latin typeface="微軟正黑體"/>
                <a:ea typeface="微軟正黑體"/>
                <a:cs typeface="微軟正黑體"/>
              </a:rPr>
              <a:t>依官方新聞稿與科學背景說明整理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1000" y="285750"/>
            <a:ext cx="95250" cy="495300"/>
          </a:xfrm>
          <a:prstGeom prst="rect">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209550"/>
            <a:ext cx="7620000" cy="628650"/>
          </a:xfrm>
          <a:prstGeom prst="rect">
            <a:avLst/>
          </a:prstGeom>
          <a:noFill/>
        </p:spPr>
        <p:txBody>
          <a:bodyPr wrap="square" anchor="ctr" lIns="38100" rIns="38100" tIns="19050" bIns="19050">
            <a:spAutoFit/>
          </a:bodyPr>
          <a:lstStyle/>
          <a:p>
            <a:pPr algn="l">
              <a:lnSpc>
                <a:spcPct val="130000"/>
              </a:lnSpc>
            </a:pPr>
            <a:r>
              <a:rPr sz="3400" b="1">
                <a:solidFill>
                  <a:srgbClr val="000000"/>
                </a:solidFill>
                <a:latin typeface="微軟正黑體"/>
                <a:ea typeface="微軟正黑體"/>
                <a:cs typeface="微軟正黑體"/>
              </a:rPr>
              <a:t>為什麼重要</a:t>
            </a:r>
          </a:p>
        </p:txBody>
      </p:sp>
      <p:sp>
        <p:nvSpPr>
          <p:cNvPr id="5" name="TextBox 4"/>
          <p:cNvSpPr txBox="1"/>
          <p:nvPr/>
        </p:nvSpPr>
        <p:spPr>
          <a:xfrm>
            <a:off x="8191500" y="361950"/>
            <a:ext cx="3619500" cy="323850"/>
          </a:xfrm>
          <a:prstGeom prst="rect">
            <a:avLst/>
          </a:prstGeom>
          <a:noFill/>
        </p:spPr>
        <p:txBody>
          <a:bodyPr wrap="square" anchor="ctr" lIns="38100" rIns="38100" tIns="19050" bIns="19050">
            <a:spAutoFit/>
          </a:bodyPr>
          <a:lstStyle/>
          <a:p>
            <a:pPr algn="r">
              <a:lnSpc>
                <a:spcPct val="130000"/>
              </a:lnSpc>
            </a:pPr>
            <a:r>
              <a:rPr sz="1600" b="0">
                <a:solidFill>
                  <a:srgbClr val="7F7F7F"/>
                </a:solidFill>
                <a:latin typeface="微軟正黑體"/>
                <a:ea typeface="微軟正黑體"/>
                <a:cs typeface="微軟正黑體"/>
              </a:rPr>
              <a:t>課本 3-1 神經系統</a:t>
            </a:r>
          </a:p>
        </p:txBody>
      </p:sp>
      <p:sp>
        <p:nvSpPr>
          <p:cNvPr id="6" name="Rectangle 5"/>
          <p:cNvSpPr/>
          <p:nvPr/>
        </p:nvSpPr>
        <p:spPr>
          <a:xfrm>
            <a:off x="381000" y="952500"/>
            <a:ext cx="11430000" cy="1905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09600" y="1485900"/>
            <a:ext cx="533400" cy="533400"/>
          </a:xfrm>
          <a:prstGeom prst="ellipse">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微軟正黑體"/>
                <a:ea typeface="微軟正黑體"/>
                <a:cs typeface="微軟正黑體"/>
              </a:rPr>
              <a:t>3</a:t>
            </a:r>
          </a:p>
        </p:txBody>
      </p:sp>
      <p:sp>
        <p:nvSpPr>
          <p:cNvPr id="8" name="TextBox 7"/>
          <p:cNvSpPr txBox="1"/>
          <p:nvPr/>
        </p:nvSpPr>
        <p:spPr>
          <a:xfrm>
            <a:off x="1333500" y="1428750"/>
            <a:ext cx="10325100" cy="3143250"/>
          </a:xfrm>
          <a:prstGeom prst="rect">
            <a:avLst/>
          </a:prstGeom>
          <a:noFill/>
        </p:spPr>
        <p:txBody>
          <a:bodyPr wrap="square" anchor="t" lIns="38100" rIns="38100" tIns="19050" bIns="19050">
            <a:spAutoFit/>
          </a:bodyPr>
          <a:lstStyle/>
          <a:p>
            <a:pPr algn="l">
              <a:lnSpc>
                <a:spcPct val="160000"/>
              </a:lnSpc>
            </a:pPr>
            <a:r>
              <a:rPr sz="2400" b="0">
                <a:solidFill>
                  <a:srgbClr val="000000"/>
                </a:solidFill>
                <a:latin typeface="微軟正黑體"/>
                <a:ea typeface="微軟正黑體"/>
                <a:cs typeface="微軟正黑體"/>
              </a:rPr>
              <a:t>研究者從此能在活體動物身上「開」或「關」特定神經迴路，釐清記憶、情緒、成癮與多種神經精神疾病的神經基礎。臨床上也已被用於嘗試讓因感光細胞受損而失明的病人恢復部分視覺，被公認為神經科學的新時代起點。</a:t>
            </a:r>
          </a:p>
        </p:txBody>
      </p:sp>
      <p:sp>
        <p:nvSpPr>
          <p:cNvPr id="9" name="Rectangle 8"/>
          <p:cNvSpPr/>
          <p:nvPr/>
        </p:nvSpPr>
        <p:spPr>
          <a:xfrm>
            <a:off x="609600" y="4629150"/>
            <a:ext cx="11049000" cy="1143000"/>
          </a:xfrm>
          <a:prstGeom prst="rect">
            <a:avLst/>
          </a:prstGeom>
          <a:solidFill>
            <a:srgbClr val="E8F3E3"/>
          </a:solidFill>
          <a:ln w="57150">
            <a:solidFill>
              <a:srgbClr val="4C85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2950" y="4695825"/>
            <a:ext cx="10782300" cy="1009650"/>
          </a:xfrm>
          <a:prstGeom prst="rect">
            <a:avLst/>
          </a:prstGeom>
          <a:noFill/>
        </p:spPr>
        <p:txBody>
          <a:bodyPr wrap="square" anchor="ctr" lIns="38100" rIns="38100" tIns="19050" bIns="19050">
            <a:spAutoFit/>
          </a:bodyPr>
          <a:lstStyle/>
          <a:p>
            <a:pPr algn="l">
              <a:lnSpc>
                <a:spcPct val="130000"/>
              </a:lnSpc>
            </a:pPr>
            <a:r>
              <a:rPr sz="2000" b="0">
                <a:solidFill>
                  <a:srgbClr val="000000"/>
                </a:solidFill>
                <a:latin typeface="華康圓體 Std W7"/>
                <a:ea typeface="華康圓體 Std W7"/>
                <a:cs typeface="華康圓體 Std W7"/>
              </a:rPr>
              <a:t>光遺傳學第一次讓研究者能在活體動物身上，用光精準開關指定神經元，把「某神經活動對應某行為或情緒」從推測變成可直接驗證的因果關係。</a:t>
            </a:r>
          </a:p>
        </p:txBody>
      </p:sp>
      <p:sp>
        <p:nvSpPr>
          <p:cNvPr id="11" name="TextBox 10"/>
          <p:cNvSpPr txBox="1"/>
          <p:nvPr/>
        </p:nvSpPr>
        <p:spPr>
          <a:xfrm>
            <a:off x="361950" y="6419850"/>
            <a:ext cx="11468100" cy="266700"/>
          </a:xfrm>
          <a:prstGeom prst="rect">
            <a:avLst/>
          </a:prstGeom>
          <a:noFill/>
        </p:spPr>
        <p:txBody>
          <a:bodyPr wrap="square" anchor="t" lIns="38100" rIns="38100" tIns="19050" bIns="19050">
            <a:spAutoFit/>
          </a:bodyPr>
          <a:lstStyle/>
          <a:p>
            <a:pPr algn="l">
              <a:lnSpc>
                <a:spcPct val="130000"/>
              </a:lnSpc>
            </a:pPr>
            <a:r>
              <a:rPr sz="1400" b="0">
                <a:solidFill>
                  <a:srgbClr val="7F7F7F"/>
                </a:solidFill>
                <a:latin typeface="微軟正黑體"/>
                <a:ea typeface="微軟正黑體"/>
                <a:cs typeface="微軟正黑體"/>
              </a:rPr>
              <a:t>依官方新聞稿與科學背景說明整理</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1000" y="285750"/>
            <a:ext cx="95250" cy="495300"/>
          </a:xfrm>
          <a:prstGeom prst="rect">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209550"/>
            <a:ext cx="7620000" cy="628650"/>
          </a:xfrm>
          <a:prstGeom prst="rect">
            <a:avLst/>
          </a:prstGeom>
          <a:noFill/>
        </p:spPr>
        <p:txBody>
          <a:bodyPr wrap="square" anchor="ctr" lIns="38100" rIns="38100" tIns="19050" bIns="19050">
            <a:spAutoFit/>
          </a:bodyPr>
          <a:lstStyle/>
          <a:p>
            <a:pPr algn="l">
              <a:lnSpc>
                <a:spcPct val="130000"/>
              </a:lnSpc>
            </a:pPr>
            <a:r>
              <a:rPr sz="3400" b="1">
                <a:solidFill>
                  <a:srgbClr val="000000"/>
                </a:solidFill>
                <a:latin typeface="微軟正黑體"/>
                <a:ea typeface="微軟正黑體"/>
                <a:cs typeface="微軟正黑體"/>
              </a:rPr>
              <a:t>落在課本哪一章</a:t>
            </a:r>
          </a:p>
        </p:txBody>
      </p:sp>
      <p:sp>
        <p:nvSpPr>
          <p:cNvPr id="5" name="TextBox 4"/>
          <p:cNvSpPr txBox="1"/>
          <p:nvPr/>
        </p:nvSpPr>
        <p:spPr>
          <a:xfrm>
            <a:off x="8191500" y="361950"/>
            <a:ext cx="3619500" cy="323850"/>
          </a:xfrm>
          <a:prstGeom prst="rect">
            <a:avLst/>
          </a:prstGeom>
          <a:noFill/>
        </p:spPr>
        <p:txBody>
          <a:bodyPr wrap="square" anchor="ctr" lIns="38100" rIns="38100" tIns="19050" bIns="19050">
            <a:spAutoFit/>
          </a:bodyPr>
          <a:lstStyle/>
          <a:p>
            <a:pPr algn="r">
              <a:lnSpc>
                <a:spcPct val="130000"/>
              </a:lnSpc>
            </a:pPr>
            <a:r>
              <a:rPr sz="1600" b="0">
                <a:solidFill>
                  <a:srgbClr val="7F7F7F"/>
                </a:solidFill>
                <a:latin typeface="微軟正黑體"/>
                <a:ea typeface="微軟正黑體"/>
                <a:cs typeface="微軟正黑體"/>
              </a:rPr>
              <a:t>課本 3-1 神經系統</a:t>
            </a:r>
          </a:p>
        </p:txBody>
      </p:sp>
      <p:sp>
        <p:nvSpPr>
          <p:cNvPr id="6" name="Rectangle 5"/>
          <p:cNvSpPr/>
          <p:nvPr/>
        </p:nvSpPr>
        <p:spPr>
          <a:xfrm>
            <a:off x="381000" y="952500"/>
            <a:ext cx="11430000" cy="1905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600" y="1428750"/>
            <a:ext cx="4191000" cy="952500"/>
          </a:xfrm>
          <a:prstGeom prst="rect">
            <a:avLst/>
          </a:prstGeom>
          <a:solidFill>
            <a:srgbClr val="4C8537"/>
          </a:solidFill>
          <a:ln w="57150">
            <a:solidFill>
              <a:srgbClr val="4C85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2950" y="1495425"/>
            <a:ext cx="3924300" cy="819150"/>
          </a:xfrm>
          <a:prstGeom prst="rect">
            <a:avLst/>
          </a:prstGeom>
          <a:noFill/>
        </p:spPr>
        <p:txBody>
          <a:bodyPr wrap="square" anchor="ctr" lIns="38100" rIns="38100" tIns="19050" bIns="19050">
            <a:spAutoFit/>
          </a:bodyPr>
          <a:lstStyle/>
          <a:p>
            <a:pPr algn="ctr">
              <a:lnSpc>
                <a:spcPct val="130000"/>
              </a:lnSpc>
            </a:pPr>
            <a:r>
              <a:rPr sz="2000" b="1">
                <a:solidFill>
                  <a:srgbClr val="FFFFFF"/>
                </a:solidFill>
                <a:latin typeface="華康圓體 Std W7"/>
                <a:ea typeface="華康圓體 Std W7"/>
                <a:cs typeface="華康圓體 Std W7"/>
              </a:rPr>
              <a:t>9805 3-1 神經系統</a:t>
            </a:r>
          </a:p>
        </p:txBody>
      </p:sp>
      <p:sp>
        <p:nvSpPr>
          <p:cNvPr id="9" name="TextBox 8"/>
          <p:cNvSpPr txBox="1"/>
          <p:nvPr/>
        </p:nvSpPr>
        <p:spPr>
          <a:xfrm>
            <a:off x="5048250" y="1428750"/>
            <a:ext cx="6610350" cy="952500"/>
          </a:xfrm>
          <a:prstGeom prst="rect">
            <a:avLst/>
          </a:prstGeom>
          <a:noFill/>
        </p:spPr>
        <p:txBody>
          <a:bodyPr wrap="square" anchor="ctr" lIns="38100" rIns="38100" tIns="19050" bIns="19050">
            <a:spAutoFit/>
          </a:bodyPr>
          <a:lstStyle/>
          <a:p>
            <a:pPr algn="l">
              <a:lnSpc>
                <a:spcPct val="130000"/>
              </a:lnSpc>
            </a:pPr>
            <a:r>
              <a:rPr sz="2000" b="0">
                <a:solidFill>
                  <a:srgbClr val="000000"/>
                </a:solidFill>
                <a:latin typeface="微軟正黑體"/>
                <a:ea typeface="微軟正黑體"/>
                <a:cs typeface="微軟正黑體"/>
              </a:rPr>
              <a:t>直接相關：此獎核心就是用光控制神經元產生動作電位、研究神經迴路如何決定行為與情緒。</a:t>
            </a:r>
          </a:p>
        </p:txBody>
      </p:sp>
      <p:sp>
        <p:nvSpPr>
          <p:cNvPr id="10" name="Rectangle 9"/>
          <p:cNvSpPr/>
          <p:nvPr/>
        </p:nvSpPr>
        <p:spPr>
          <a:xfrm>
            <a:off x="609600" y="2571750"/>
            <a:ext cx="4191000" cy="952500"/>
          </a:xfrm>
          <a:prstGeom prst="rect">
            <a:avLst/>
          </a:prstGeom>
          <a:solidFill>
            <a:srgbClr val="4C8537"/>
          </a:solidFill>
          <a:ln w="57150">
            <a:solidFill>
              <a:srgbClr val="4C85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2950" y="2638425"/>
            <a:ext cx="3924300" cy="819150"/>
          </a:xfrm>
          <a:prstGeom prst="rect">
            <a:avLst/>
          </a:prstGeom>
          <a:noFill/>
        </p:spPr>
        <p:txBody>
          <a:bodyPr wrap="square" anchor="ctr" lIns="38100" rIns="38100" tIns="19050" bIns="19050">
            <a:spAutoFit/>
          </a:bodyPr>
          <a:lstStyle/>
          <a:p>
            <a:pPr algn="ctr">
              <a:lnSpc>
                <a:spcPct val="130000"/>
              </a:lnSpc>
            </a:pPr>
            <a:r>
              <a:rPr sz="2000" b="1">
                <a:solidFill>
                  <a:srgbClr val="FFFFFF"/>
                </a:solidFill>
                <a:latin typeface="華康圓體 Std W7"/>
                <a:ea typeface="華康圓體 Std W7"/>
                <a:cs typeface="華康圓體 Std W7"/>
              </a:rPr>
              <a:t>9801 2-5 遺傳工程技術及其應用</a:t>
            </a:r>
          </a:p>
        </p:txBody>
      </p:sp>
      <p:sp>
        <p:nvSpPr>
          <p:cNvPr id="12" name="TextBox 11"/>
          <p:cNvSpPr txBox="1"/>
          <p:nvPr/>
        </p:nvSpPr>
        <p:spPr>
          <a:xfrm>
            <a:off x="5048250" y="2571750"/>
            <a:ext cx="6610350" cy="952500"/>
          </a:xfrm>
          <a:prstGeom prst="rect">
            <a:avLst/>
          </a:prstGeom>
          <a:noFill/>
        </p:spPr>
        <p:txBody>
          <a:bodyPr wrap="square" anchor="ctr" lIns="38100" rIns="38100" tIns="19050" bIns="19050">
            <a:spAutoFit/>
          </a:bodyPr>
          <a:lstStyle/>
          <a:p>
            <a:pPr algn="l">
              <a:lnSpc>
                <a:spcPct val="130000"/>
              </a:lnSpc>
            </a:pPr>
            <a:r>
              <a:rPr sz="2000" b="0">
                <a:solidFill>
                  <a:srgbClr val="000000"/>
                </a:solidFill>
                <a:latin typeface="微軟正黑體"/>
                <a:ea typeface="微軟正黑體"/>
                <a:cs typeface="微軟正黑體"/>
              </a:rPr>
              <a:t>方法基礎：把藻類的通道視紫質基因「送進」神經細胞使之表現，就是標準的遺傳工程操作。</a:t>
            </a:r>
          </a:p>
        </p:txBody>
      </p:sp>
      <p:sp>
        <p:nvSpPr>
          <p:cNvPr id="13" name="Rectangle 12"/>
          <p:cNvSpPr/>
          <p:nvPr/>
        </p:nvSpPr>
        <p:spPr>
          <a:xfrm>
            <a:off x="609600" y="3714750"/>
            <a:ext cx="4191000" cy="952500"/>
          </a:xfrm>
          <a:prstGeom prst="rect">
            <a:avLst/>
          </a:prstGeom>
          <a:solidFill>
            <a:srgbClr val="4C8537"/>
          </a:solidFill>
          <a:ln w="57150">
            <a:solidFill>
              <a:srgbClr val="4C85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2950" y="3781425"/>
            <a:ext cx="3924300" cy="819150"/>
          </a:xfrm>
          <a:prstGeom prst="rect">
            <a:avLst/>
          </a:prstGeom>
          <a:noFill/>
        </p:spPr>
        <p:txBody>
          <a:bodyPr wrap="square" anchor="ctr" lIns="38100" rIns="38100" tIns="19050" bIns="19050">
            <a:spAutoFit/>
          </a:bodyPr>
          <a:lstStyle/>
          <a:p>
            <a:pPr algn="ctr">
              <a:lnSpc>
                <a:spcPct val="130000"/>
              </a:lnSpc>
            </a:pPr>
            <a:r>
              <a:rPr sz="2000" b="1">
                <a:solidFill>
                  <a:srgbClr val="FFFFFF"/>
                </a:solidFill>
                <a:latin typeface="華康圓體 Std W7"/>
                <a:ea typeface="華康圓體 Std W7"/>
                <a:cs typeface="華康圓體 Std W7"/>
              </a:rPr>
              <a:t>9801 1-2 細胞的構造與功能</a:t>
            </a:r>
          </a:p>
        </p:txBody>
      </p:sp>
      <p:sp>
        <p:nvSpPr>
          <p:cNvPr id="15" name="TextBox 14"/>
          <p:cNvSpPr txBox="1"/>
          <p:nvPr/>
        </p:nvSpPr>
        <p:spPr>
          <a:xfrm>
            <a:off x="5048250" y="3714750"/>
            <a:ext cx="6610350" cy="952500"/>
          </a:xfrm>
          <a:prstGeom prst="rect">
            <a:avLst/>
          </a:prstGeom>
          <a:noFill/>
        </p:spPr>
        <p:txBody>
          <a:bodyPr wrap="square" anchor="ctr" lIns="38100" rIns="38100" tIns="19050" bIns="19050">
            <a:spAutoFit/>
          </a:bodyPr>
          <a:lstStyle/>
          <a:p>
            <a:pPr algn="l">
              <a:lnSpc>
                <a:spcPct val="130000"/>
              </a:lnSpc>
            </a:pPr>
            <a:r>
              <a:rPr sz="2000" b="0">
                <a:solidFill>
                  <a:srgbClr val="000000"/>
                </a:solidFill>
                <a:latin typeface="微軟正黑體"/>
                <a:ea typeface="微軟正黑體"/>
                <a:cs typeface="微軟正黑體"/>
              </a:rPr>
              <a:t>原理基礎：通道視紫質是細胞膜上的膜蛋白離子通道，呼應細胞膜與膜蛋白的構造與功能。</a:t>
            </a:r>
          </a:p>
        </p:txBody>
      </p:sp>
      <p:sp>
        <p:nvSpPr>
          <p:cNvPr id="16" name="TextBox 15"/>
          <p:cNvSpPr txBox="1"/>
          <p:nvPr/>
        </p:nvSpPr>
        <p:spPr>
          <a:xfrm>
            <a:off x="361950" y="6419850"/>
            <a:ext cx="11468100" cy="266700"/>
          </a:xfrm>
          <a:prstGeom prst="rect">
            <a:avLst/>
          </a:prstGeom>
          <a:noFill/>
        </p:spPr>
        <p:txBody>
          <a:bodyPr wrap="square" anchor="t" lIns="38100" rIns="38100" tIns="19050" bIns="19050">
            <a:spAutoFit/>
          </a:bodyPr>
          <a:lstStyle/>
          <a:p>
            <a:pPr algn="l">
              <a:lnSpc>
                <a:spcPct val="130000"/>
              </a:lnSpc>
            </a:pPr>
            <a:r>
              <a:rPr sz="1400" b="0">
                <a:solidFill>
                  <a:srgbClr val="7F7F7F"/>
                </a:solidFill>
                <a:latin typeface="微軟正黑體"/>
                <a:ea typeface="微軟正黑體"/>
                <a:cs typeface="微軟正黑體"/>
              </a:rPr>
              <a:t>泰宇《生物》現行版目次</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1000" y="285750"/>
            <a:ext cx="95250" cy="495300"/>
          </a:xfrm>
          <a:prstGeom prst="rect">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209550"/>
            <a:ext cx="7620000" cy="628650"/>
          </a:xfrm>
          <a:prstGeom prst="rect">
            <a:avLst/>
          </a:prstGeom>
          <a:noFill/>
        </p:spPr>
        <p:txBody>
          <a:bodyPr wrap="square" anchor="ctr" lIns="38100" rIns="38100" tIns="19050" bIns="19050">
            <a:spAutoFit/>
          </a:bodyPr>
          <a:lstStyle/>
          <a:p>
            <a:pPr algn="l">
              <a:lnSpc>
                <a:spcPct val="130000"/>
              </a:lnSpc>
            </a:pPr>
            <a:r>
              <a:rPr sz="3400" b="1">
                <a:solidFill>
                  <a:srgbClr val="000000"/>
                </a:solidFill>
                <a:latin typeface="微軟正黑體"/>
                <a:ea typeface="微軟正黑體"/>
                <a:cs typeface="微軟正黑體"/>
              </a:rPr>
              <a:t>課堂三問</a:t>
            </a:r>
          </a:p>
        </p:txBody>
      </p:sp>
      <p:sp>
        <p:nvSpPr>
          <p:cNvPr id="5" name="TextBox 4"/>
          <p:cNvSpPr txBox="1"/>
          <p:nvPr/>
        </p:nvSpPr>
        <p:spPr>
          <a:xfrm>
            <a:off x="8191500" y="361950"/>
            <a:ext cx="3619500" cy="323850"/>
          </a:xfrm>
          <a:prstGeom prst="rect">
            <a:avLst/>
          </a:prstGeom>
          <a:noFill/>
        </p:spPr>
        <p:txBody>
          <a:bodyPr wrap="square" anchor="ctr" lIns="38100" rIns="38100" tIns="19050" bIns="19050">
            <a:spAutoFit/>
          </a:bodyPr>
          <a:lstStyle/>
          <a:p>
            <a:pPr algn="r">
              <a:lnSpc>
                <a:spcPct val="130000"/>
              </a:lnSpc>
            </a:pPr>
            <a:r>
              <a:rPr sz="1600" b="0">
                <a:solidFill>
                  <a:srgbClr val="7F7F7F"/>
                </a:solidFill>
                <a:latin typeface="微軟正黑體"/>
                <a:ea typeface="微軟正黑體"/>
                <a:cs typeface="微軟正黑體"/>
              </a:rPr>
              <a:t>課本 3-1 神經系統</a:t>
            </a:r>
          </a:p>
        </p:txBody>
      </p:sp>
      <p:sp>
        <p:nvSpPr>
          <p:cNvPr id="6" name="Rectangle 5"/>
          <p:cNvSpPr/>
          <p:nvPr/>
        </p:nvSpPr>
        <p:spPr>
          <a:xfrm>
            <a:off x="381000" y="952500"/>
            <a:ext cx="11430000" cy="1905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09600" y="1466850"/>
            <a:ext cx="457200" cy="457200"/>
          </a:xfrm>
          <a:prstGeom prst="ellipse">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微軟正黑體"/>
                <a:ea typeface="微軟正黑體"/>
                <a:cs typeface="微軟正黑體"/>
              </a:rPr>
              <a:t>1</a:t>
            </a:r>
          </a:p>
        </p:txBody>
      </p:sp>
      <p:sp>
        <p:nvSpPr>
          <p:cNvPr id="8" name="TextBox 7"/>
          <p:cNvSpPr txBox="1"/>
          <p:nvPr/>
        </p:nvSpPr>
        <p:spPr>
          <a:xfrm>
            <a:off x="1238250" y="1428750"/>
            <a:ext cx="10382250" cy="476250"/>
          </a:xfrm>
          <a:prstGeom prst="rect">
            <a:avLst/>
          </a:prstGeom>
          <a:noFill/>
        </p:spPr>
        <p:txBody>
          <a:bodyPr wrap="square" anchor="t" lIns="38100" rIns="38100" tIns="19050" bIns="19050">
            <a:spAutoFit/>
          </a:bodyPr>
          <a:lstStyle/>
          <a:p>
            <a:pPr algn="l">
              <a:lnSpc>
                <a:spcPct val="130000"/>
              </a:lnSpc>
            </a:pPr>
            <a:r>
              <a:rPr sz="3200" b="1">
                <a:solidFill>
                  <a:srgbClr val="000000"/>
                </a:solidFill>
                <a:latin typeface="微軟正黑體"/>
                <a:ea typeface="微軟正黑體"/>
                <a:cs typeface="微軟正黑體"/>
              </a:rPr>
              <a:t>什麼是「光遺傳學」？</a:t>
            </a:r>
          </a:p>
        </p:txBody>
      </p:sp>
      <p:sp>
        <p:nvSpPr>
          <p:cNvPr id="9" name="TextBox 8"/>
          <p:cNvSpPr txBox="1"/>
          <p:nvPr/>
        </p:nvSpPr>
        <p:spPr>
          <a:xfrm>
            <a:off x="1238250" y="1962150"/>
            <a:ext cx="10382250" cy="800100"/>
          </a:xfrm>
          <a:prstGeom prst="rect">
            <a:avLst/>
          </a:prstGeom>
          <a:noFill/>
        </p:spPr>
        <p:txBody>
          <a:bodyPr wrap="square" anchor="t" lIns="38100" rIns="38100" tIns="19050" bIns="19050">
            <a:spAutoFit/>
          </a:bodyPr>
          <a:lstStyle/>
          <a:p>
            <a:pPr algn="l">
              <a:lnSpc>
                <a:spcPct val="130000"/>
              </a:lnSpc>
            </a:pPr>
            <a:r>
              <a:rPr sz="2000" b="0">
                <a:solidFill>
                  <a:srgbClr val="7F7F7F"/>
                </a:solidFill>
                <a:latin typeface="微軟正黑體"/>
                <a:ea typeface="微軟正黑體"/>
                <a:cs typeface="微軟正黑體"/>
              </a:rPr>
              <a:t>把會因光打開的離子通道蛋白基因送進目標細胞（通常是神經細胞），再用特定波長的光精準控制這些細胞活動的技術。</a:t>
            </a:r>
          </a:p>
        </p:txBody>
      </p:sp>
      <p:sp>
        <p:nvSpPr>
          <p:cNvPr id="10" name="Oval 9"/>
          <p:cNvSpPr/>
          <p:nvPr/>
        </p:nvSpPr>
        <p:spPr>
          <a:xfrm>
            <a:off x="609600" y="2952750"/>
            <a:ext cx="457200" cy="457200"/>
          </a:xfrm>
          <a:prstGeom prst="ellipse">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微軟正黑體"/>
                <a:ea typeface="微軟正黑體"/>
                <a:cs typeface="微軟正黑體"/>
              </a:rPr>
              <a:t>2</a:t>
            </a:r>
          </a:p>
        </p:txBody>
      </p:sp>
      <p:sp>
        <p:nvSpPr>
          <p:cNvPr id="11" name="TextBox 10"/>
          <p:cNvSpPr txBox="1"/>
          <p:nvPr/>
        </p:nvSpPr>
        <p:spPr>
          <a:xfrm>
            <a:off x="1238250" y="2914650"/>
            <a:ext cx="10382250" cy="476250"/>
          </a:xfrm>
          <a:prstGeom prst="rect">
            <a:avLst/>
          </a:prstGeom>
          <a:noFill/>
        </p:spPr>
        <p:txBody>
          <a:bodyPr wrap="square" anchor="t" lIns="38100" rIns="38100" tIns="19050" bIns="19050">
            <a:spAutoFit/>
          </a:bodyPr>
          <a:lstStyle/>
          <a:p>
            <a:pPr algn="l">
              <a:lnSpc>
                <a:spcPct val="130000"/>
              </a:lnSpc>
            </a:pPr>
            <a:r>
              <a:rPr sz="3200" b="1">
                <a:solidFill>
                  <a:srgbClr val="000000"/>
                </a:solidFill>
                <a:latin typeface="微軟正黑體"/>
                <a:ea typeface="微軟正黑體"/>
                <a:cs typeface="微軟正黑體"/>
              </a:rPr>
              <a:t>為什麼要用藻類身上的蛋白？</a:t>
            </a:r>
          </a:p>
        </p:txBody>
      </p:sp>
      <p:sp>
        <p:nvSpPr>
          <p:cNvPr id="12" name="TextBox 11"/>
          <p:cNvSpPr txBox="1"/>
          <p:nvPr/>
        </p:nvSpPr>
        <p:spPr>
          <a:xfrm>
            <a:off x="1238250" y="3448050"/>
            <a:ext cx="10382250" cy="800100"/>
          </a:xfrm>
          <a:prstGeom prst="rect">
            <a:avLst/>
          </a:prstGeom>
          <a:noFill/>
        </p:spPr>
        <p:txBody>
          <a:bodyPr wrap="square" anchor="t" lIns="38100" rIns="38100" tIns="19050" bIns="19050">
            <a:spAutoFit/>
          </a:bodyPr>
          <a:lstStyle/>
          <a:p>
            <a:pPr algn="l">
              <a:lnSpc>
                <a:spcPct val="130000"/>
              </a:lnSpc>
            </a:pPr>
            <a:r>
              <a:rPr sz="2000" b="0">
                <a:solidFill>
                  <a:srgbClr val="7F7F7F"/>
                </a:solidFill>
                <a:latin typeface="微軟正黑體"/>
                <a:ea typeface="微軟正黑體"/>
                <a:cs typeface="微軟正黑體"/>
              </a:rPr>
              <a:t>萊茵衣藻靠感光蛋白判斷光源方向而游泳。黑格曼等人發現它的通道視紫質接收藍光後會直接打開離子通道，天然就是現成的光控開關。</a:t>
            </a:r>
          </a:p>
        </p:txBody>
      </p:sp>
      <p:sp>
        <p:nvSpPr>
          <p:cNvPr id="13" name="Oval 12"/>
          <p:cNvSpPr/>
          <p:nvPr/>
        </p:nvSpPr>
        <p:spPr>
          <a:xfrm>
            <a:off x="609600" y="4438650"/>
            <a:ext cx="457200" cy="457200"/>
          </a:xfrm>
          <a:prstGeom prst="ellipse">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微軟正黑體"/>
                <a:ea typeface="微軟正黑體"/>
                <a:cs typeface="微軟正黑體"/>
              </a:rPr>
              <a:t>3</a:t>
            </a:r>
          </a:p>
        </p:txBody>
      </p:sp>
      <p:sp>
        <p:nvSpPr>
          <p:cNvPr id="14" name="TextBox 13"/>
          <p:cNvSpPr txBox="1"/>
          <p:nvPr/>
        </p:nvSpPr>
        <p:spPr>
          <a:xfrm>
            <a:off x="1238250" y="4400550"/>
            <a:ext cx="10382250" cy="476250"/>
          </a:xfrm>
          <a:prstGeom prst="rect">
            <a:avLst/>
          </a:prstGeom>
          <a:noFill/>
        </p:spPr>
        <p:txBody>
          <a:bodyPr wrap="square" anchor="t" lIns="38100" rIns="38100" tIns="19050" bIns="19050">
            <a:spAutoFit/>
          </a:bodyPr>
          <a:lstStyle/>
          <a:p>
            <a:pPr algn="l">
              <a:lnSpc>
                <a:spcPct val="130000"/>
              </a:lnSpc>
            </a:pPr>
            <a:r>
              <a:rPr sz="3200" b="1">
                <a:solidFill>
                  <a:srgbClr val="000000"/>
                </a:solidFill>
                <a:latin typeface="微軟正黑體"/>
                <a:ea typeface="微軟正黑體"/>
                <a:cs typeface="微軟正黑體"/>
              </a:rPr>
              <a:t>和傳統用電刺激腦部研究相比，光遺傳學的優點在哪？</a:t>
            </a:r>
          </a:p>
        </p:txBody>
      </p:sp>
      <p:sp>
        <p:nvSpPr>
          <p:cNvPr id="15" name="TextBox 14"/>
          <p:cNvSpPr txBox="1"/>
          <p:nvPr/>
        </p:nvSpPr>
        <p:spPr>
          <a:xfrm>
            <a:off x="1238250" y="4933950"/>
            <a:ext cx="10382250" cy="800100"/>
          </a:xfrm>
          <a:prstGeom prst="rect">
            <a:avLst/>
          </a:prstGeom>
          <a:noFill/>
        </p:spPr>
        <p:txBody>
          <a:bodyPr wrap="square" anchor="t" lIns="38100" rIns="38100" tIns="19050" bIns="19050">
            <a:spAutoFit/>
          </a:bodyPr>
          <a:lstStyle/>
          <a:p>
            <a:pPr algn="l">
              <a:lnSpc>
                <a:spcPct val="130000"/>
              </a:lnSpc>
            </a:pPr>
            <a:r>
              <a:rPr sz="2000" b="0">
                <a:solidFill>
                  <a:srgbClr val="7F7F7F"/>
                </a:solidFill>
                <a:latin typeface="微軟正黑體"/>
                <a:ea typeface="微軟正黑體"/>
                <a:cs typeface="微軟正黑體"/>
              </a:rPr>
              <a:t>電刺激會同時刺激到附近所有神經元，光遺傳學只有被導入基因的目標神經元會對光反應，可精準指定要測試的細胞群，建立因果關係。</a:t>
            </a:r>
          </a:p>
        </p:txBody>
      </p:sp>
      <p:sp>
        <p:nvSpPr>
          <p:cNvPr id="16" name="TextBox 15"/>
          <p:cNvSpPr txBox="1"/>
          <p:nvPr/>
        </p:nvSpPr>
        <p:spPr>
          <a:xfrm>
            <a:off x="361950" y="6419850"/>
            <a:ext cx="11468100" cy="266700"/>
          </a:xfrm>
          <a:prstGeom prst="rect">
            <a:avLst/>
          </a:prstGeom>
          <a:noFill/>
        </p:spPr>
        <p:txBody>
          <a:bodyPr wrap="square" anchor="t" lIns="38100" rIns="38100" tIns="19050" bIns="19050">
            <a:spAutoFit/>
          </a:bodyPr>
          <a:lstStyle/>
          <a:p>
            <a:pPr algn="l">
              <a:lnSpc>
                <a:spcPct val="130000"/>
              </a:lnSpc>
            </a:pPr>
            <a:r>
              <a:rPr sz="1400" b="0">
                <a:solidFill>
                  <a:srgbClr val="7F7F7F"/>
                </a:solidFill>
                <a:latin typeface="微軟正黑體"/>
                <a:ea typeface="微軟正黑體"/>
                <a:cs typeface="微軟正黑體"/>
              </a:rPr>
              <a:t>先讓學生答再揭曉</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1000" y="285750"/>
            <a:ext cx="95250" cy="495300"/>
          </a:xfrm>
          <a:prstGeom prst="rect">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209550"/>
            <a:ext cx="7620000" cy="628650"/>
          </a:xfrm>
          <a:prstGeom prst="rect">
            <a:avLst/>
          </a:prstGeom>
          <a:noFill/>
        </p:spPr>
        <p:txBody>
          <a:bodyPr wrap="square" anchor="ctr" lIns="38100" rIns="38100" tIns="19050" bIns="19050">
            <a:spAutoFit/>
          </a:bodyPr>
          <a:lstStyle/>
          <a:p>
            <a:pPr algn="l">
              <a:lnSpc>
                <a:spcPct val="130000"/>
              </a:lnSpc>
            </a:pPr>
            <a:r>
              <a:rPr sz="3400" b="1">
                <a:solidFill>
                  <a:srgbClr val="000000"/>
                </a:solidFill>
                <a:latin typeface="微軟正黑體"/>
                <a:ea typeface="微軟正黑體"/>
                <a:cs typeface="微軟正黑體"/>
              </a:rPr>
              <a:t>學習單（一）：單選與簡答</a:t>
            </a:r>
          </a:p>
        </p:txBody>
      </p:sp>
      <p:sp>
        <p:nvSpPr>
          <p:cNvPr id="5" name="TextBox 4"/>
          <p:cNvSpPr txBox="1"/>
          <p:nvPr/>
        </p:nvSpPr>
        <p:spPr>
          <a:xfrm>
            <a:off x="8191500" y="361950"/>
            <a:ext cx="3619500" cy="323850"/>
          </a:xfrm>
          <a:prstGeom prst="rect">
            <a:avLst/>
          </a:prstGeom>
          <a:noFill/>
        </p:spPr>
        <p:txBody>
          <a:bodyPr wrap="square" anchor="ctr" lIns="38100" rIns="38100" tIns="19050" bIns="19050">
            <a:spAutoFit/>
          </a:bodyPr>
          <a:lstStyle/>
          <a:p>
            <a:pPr algn="r">
              <a:lnSpc>
                <a:spcPct val="130000"/>
              </a:lnSpc>
            </a:pPr>
            <a:r>
              <a:rPr sz="1600" b="0">
                <a:solidFill>
                  <a:srgbClr val="7F7F7F"/>
                </a:solidFill>
                <a:latin typeface="微軟正黑體"/>
                <a:ea typeface="微軟正黑體"/>
                <a:cs typeface="微軟正黑體"/>
              </a:rPr>
              <a:t>課本 3-1 神經系統</a:t>
            </a:r>
          </a:p>
        </p:txBody>
      </p:sp>
      <p:sp>
        <p:nvSpPr>
          <p:cNvPr id="6" name="Rectangle 5"/>
          <p:cNvSpPr/>
          <p:nvPr/>
        </p:nvSpPr>
        <p:spPr>
          <a:xfrm>
            <a:off x="381000" y="952500"/>
            <a:ext cx="11430000" cy="1905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600" y="1390650"/>
            <a:ext cx="11049000" cy="952500"/>
          </a:xfrm>
          <a:prstGeom prst="rect">
            <a:avLst/>
          </a:prstGeom>
          <a:noFill/>
        </p:spPr>
        <p:txBody>
          <a:bodyPr wrap="square" anchor="t" lIns="38100" rIns="38100" tIns="19050" bIns="19050">
            <a:spAutoFit/>
          </a:bodyPr>
          <a:lstStyle/>
          <a:p>
            <a:pPr algn="l">
              <a:lnSpc>
                <a:spcPct val="130000"/>
              </a:lnSpc>
            </a:pPr>
            <a:r>
              <a:rPr sz="2000" b="0">
                <a:solidFill>
                  <a:srgbClr val="000000"/>
                </a:solidFill>
                <a:latin typeface="微軟正黑體"/>
                <a:ea typeface="微軟正黑體"/>
                <a:cs typeface="微軟正黑體"/>
              </a:rPr>
              <a:t>1. 2026 年諾貝爾生醫獎的得獎研究，將下列哪一種蛋白導入神經細胞，使之能被光控制？　(A) A 血紅素　(B) B 肌動蛋白　(C) C 通道視紫質（channelrhodopsin）　(D) D 胰島素</a:t>
            </a:r>
          </a:p>
        </p:txBody>
      </p:sp>
      <p:sp>
        <p:nvSpPr>
          <p:cNvPr id="8" name="TextBox 7"/>
          <p:cNvSpPr txBox="1"/>
          <p:nvPr/>
        </p:nvSpPr>
        <p:spPr>
          <a:xfrm>
            <a:off x="609600" y="2419350"/>
            <a:ext cx="11049000" cy="952500"/>
          </a:xfrm>
          <a:prstGeom prst="rect">
            <a:avLst/>
          </a:prstGeom>
          <a:noFill/>
        </p:spPr>
        <p:txBody>
          <a:bodyPr wrap="square" anchor="t" lIns="38100" rIns="38100" tIns="19050" bIns="19050">
            <a:spAutoFit/>
          </a:bodyPr>
          <a:lstStyle/>
          <a:p>
            <a:pPr algn="l">
              <a:lnSpc>
                <a:spcPct val="130000"/>
              </a:lnSpc>
            </a:pPr>
            <a:r>
              <a:rPr sz="2000" b="0">
                <a:solidFill>
                  <a:srgbClr val="000000"/>
                </a:solidFill>
                <a:latin typeface="微軟正黑體"/>
                <a:ea typeface="微軟正黑體"/>
                <a:cs typeface="微軟正黑體"/>
              </a:rPr>
              <a:t>2. 通道視紫質接收藍光時主要發生下列哪一變化？　(A) A 蛋白質分解釋出能量　(B) B 離子通道打開讓離子進入細胞　(C) C 細胞立即進行分裂　(D) D 進行光合作用製造葡萄糖</a:t>
            </a:r>
          </a:p>
        </p:txBody>
      </p:sp>
      <p:sp>
        <p:nvSpPr>
          <p:cNvPr id="9" name="TextBox 8"/>
          <p:cNvSpPr txBox="1"/>
          <p:nvPr/>
        </p:nvSpPr>
        <p:spPr>
          <a:xfrm>
            <a:off x="609600" y="3448050"/>
            <a:ext cx="11049000" cy="952500"/>
          </a:xfrm>
          <a:prstGeom prst="rect">
            <a:avLst/>
          </a:prstGeom>
          <a:noFill/>
        </p:spPr>
        <p:txBody>
          <a:bodyPr wrap="square" anchor="t" lIns="38100" rIns="38100" tIns="19050" bIns="19050">
            <a:spAutoFit/>
          </a:bodyPr>
          <a:lstStyle/>
          <a:p>
            <a:pPr algn="l">
              <a:lnSpc>
                <a:spcPct val="130000"/>
              </a:lnSpc>
            </a:pPr>
            <a:r>
              <a:rPr sz="2000" b="0">
                <a:solidFill>
                  <a:srgbClr val="000000"/>
                </a:solidFill>
                <a:latin typeface="微軟正黑體"/>
                <a:ea typeface="微軟正黑體"/>
                <a:cs typeface="微軟正黑體"/>
              </a:rPr>
              <a:t>3. 說明光遺傳學為什麼能「精準控制」特定神經元活動，而不會影響周圍其他神經元。</a:t>
            </a:r>
          </a:p>
        </p:txBody>
      </p:sp>
      <p:sp>
        <p:nvSpPr>
          <p:cNvPr id="10" name="TextBox 9"/>
          <p:cNvSpPr txBox="1"/>
          <p:nvPr/>
        </p:nvSpPr>
        <p:spPr>
          <a:xfrm>
            <a:off x="609600" y="4476750"/>
            <a:ext cx="11049000" cy="952500"/>
          </a:xfrm>
          <a:prstGeom prst="rect">
            <a:avLst/>
          </a:prstGeom>
          <a:noFill/>
        </p:spPr>
        <p:txBody>
          <a:bodyPr wrap="square" anchor="t" lIns="38100" rIns="38100" tIns="19050" bIns="19050">
            <a:spAutoFit/>
          </a:bodyPr>
          <a:lstStyle/>
          <a:p>
            <a:pPr algn="l">
              <a:lnSpc>
                <a:spcPct val="130000"/>
              </a:lnSpc>
            </a:pPr>
            <a:r>
              <a:rPr sz="2000" b="0">
                <a:solidFill>
                  <a:srgbClr val="000000"/>
                </a:solidFill>
                <a:latin typeface="微軟正黑體"/>
                <a:ea typeface="微軟正黑體"/>
                <a:cs typeface="微軟正黑體"/>
              </a:rPr>
              <a:t>4. 通道視紫質最初是從哪一類生物身上發現？研究者原本想解答什麼問題？</a:t>
            </a:r>
          </a:p>
        </p:txBody>
      </p:sp>
      <p:sp>
        <p:nvSpPr>
          <p:cNvPr id="11" name="TextBox 10"/>
          <p:cNvSpPr txBox="1"/>
          <p:nvPr/>
        </p:nvSpPr>
        <p:spPr>
          <a:xfrm>
            <a:off x="361950" y="6419850"/>
            <a:ext cx="11468100" cy="266700"/>
          </a:xfrm>
          <a:prstGeom prst="rect">
            <a:avLst/>
          </a:prstGeom>
          <a:noFill/>
        </p:spPr>
        <p:txBody>
          <a:bodyPr wrap="square" anchor="t" lIns="38100" rIns="38100" tIns="19050" bIns="19050">
            <a:spAutoFit/>
          </a:bodyPr>
          <a:lstStyle/>
          <a:p>
            <a:pPr algn="l">
              <a:lnSpc>
                <a:spcPct val="130000"/>
              </a:lnSpc>
            </a:pPr>
            <a:r>
              <a:rPr sz="1400" b="0">
                <a:solidFill>
                  <a:srgbClr val="7F7F7F"/>
                </a:solidFill>
                <a:latin typeface="微軟正黑體"/>
                <a:ea typeface="微軟正黑體"/>
                <a:cs typeface="微軟正黑體"/>
              </a:rPr>
              <a:t>答案見教師版學習單</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1000" y="285750"/>
            <a:ext cx="95250" cy="495300"/>
          </a:xfrm>
          <a:prstGeom prst="rect">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209550"/>
            <a:ext cx="7620000" cy="628650"/>
          </a:xfrm>
          <a:prstGeom prst="rect">
            <a:avLst/>
          </a:prstGeom>
          <a:noFill/>
        </p:spPr>
        <p:txBody>
          <a:bodyPr wrap="square" anchor="ctr" lIns="38100" rIns="38100" tIns="19050" bIns="19050">
            <a:spAutoFit/>
          </a:bodyPr>
          <a:lstStyle/>
          <a:p>
            <a:pPr algn="l">
              <a:lnSpc>
                <a:spcPct val="130000"/>
              </a:lnSpc>
            </a:pPr>
            <a:r>
              <a:rPr sz="3400" b="1">
                <a:solidFill>
                  <a:srgbClr val="000000"/>
                </a:solidFill>
                <a:latin typeface="微軟正黑體"/>
                <a:ea typeface="微軟正黑體"/>
                <a:cs typeface="微軟正黑體"/>
              </a:rPr>
              <a:t>學習單（二）：資料判讀與延伸思考</a:t>
            </a:r>
          </a:p>
        </p:txBody>
      </p:sp>
      <p:sp>
        <p:nvSpPr>
          <p:cNvPr id="5" name="TextBox 4"/>
          <p:cNvSpPr txBox="1"/>
          <p:nvPr/>
        </p:nvSpPr>
        <p:spPr>
          <a:xfrm>
            <a:off x="8191500" y="361950"/>
            <a:ext cx="3619500" cy="323850"/>
          </a:xfrm>
          <a:prstGeom prst="rect">
            <a:avLst/>
          </a:prstGeom>
          <a:noFill/>
        </p:spPr>
        <p:txBody>
          <a:bodyPr wrap="square" anchor="ctr" lIns="38100" rIns="38100" tIns="19050" bIns="19050">
            <a:spAutoFit/>
          </a:bodyPr>
          <a:lstStyle/>
          <a:p>
            <a:pPr algn="r">
              <a:lnSpc>
                <a:spcPct val="130000"/>
              </a:lnSpc>
            </a:pPr>
            <a:r>
              <a:rPr sz="1600" b="0">
                <a:solidFill>
                  <a:srgbClr val="7F7F7F"/>
                </a:solidFill>
                <a:latin typeface="微軟正黑體"/>
                <a:ea typeface="微軟正黑體"/>
                <a:cs typeface="微軟正黑體"/>
              </a:rPr>
              <a:t>課本 3-1 神經系統</a:t>
            </a:r>
          </a:p>
        </p:txBody>
      </p:sp>
      <p:sp>
        <p:nvSpPr>
          <p:cNvPr id="6" name="Rectangle 5"/>
          <p:cNvSpPr/>
          <p:nvPr/>
        </p:nvSpPr>
        <p:spPr>
          <a:xfrm>
            <a:off x="381000" y="952500"/>
            <a:ext cx="11430000" cy="1905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600" y="1333500"/>
            <a:ext cx="11049000" cy="1809750"/>
          </a:xfrm>
          <a:prstGeom prst="rect">
            <a:avLst/>
          </a:prstGeom>
          <a:solidFill>
            <a:srgbClr val="FFF4E6"/>
          </a:solidFill>
          <a:ln w="57150">
            <a:solidFill>
              <a:srgbClr val="F258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2950" y="1400175"/>
            <a:ext cx="10782300" cy="1676400"/>
          </a:xfrm>
          <a:prstGeom prst="rect">
            <a:avLst/>
          </a:prstGeom>
          <a:noFill/>
        </p:spPr>
        <p:txBody>
          <a:bodyPr wrap="square" anchor="t" lIns="38100" rIns="38100" tIns="19050" bIns="19050">
            <a:spAutoFit/>
          </a:bodyPr>
          <a:lstStyle/>
          <a:p>
            <a:pPr algn="l">
              <a:lnSpc>
                <a:spcPct val="130000"/>
              </a:lnSpc>
            </a:pPr>
            <a:r>
              <a:rPr sz="2000" b="0">
                <a:solidFill>
                  <a:srgbClr val="000000"/>
                </a:solidFill>
                <a:latin typeface="華康圓體 Std W7"/>
                <a:ea typeface="華康圓體 Std W7"/>
                <a:cs typeface="華康圓體 Std W7"/>
              </a:rPr>
              <a:t>戴瑟羅斯團隊於 2005 年將編碼「通道視紫質」的基因導入培養皿中的大鼠神經細胞，之後以藍光照射，記錄到這些神經細胞立即產生動作電位；在同一組未導入該基因的對照神經細胞上，照射相同強度與波長的藍光，則沒有觀察到動作電位。</a:t>
            </a:r>
          </a:p>
        </p:txBody>
      </p:sp>
      <p:sp>
        <p:nvSpPr>
          <p:cNvPr id="9" name="TextBox 8"/>
          <p:cNvSpPr txBox="1"/>
          <p:nvPr/>
        </p:nvSpPr>
        <p:spPr>
          <a:xfrm>
            <a:off x="609600" y="3238500"/>
            <a:ext cx="11049000" cy="800100"/>
          </a:xfrm>
          <a:prstGeom prst="rect">
            <a:avLst/>
          </a:prstGeom>
          <a:noFill/>
        </p:spPr>
        <p:txBody>
          <a:bodyPr wrap="square" anchor="t" lIns="38100" rIns="38100" tIns="19050" bIns="19050">
            <a:spAutoFit/>
          </a:bodyPr>
          <a:lstStyle/>
          <a:p>
            <a:pPr algn="l">
              <a:lnSpc>
                <a:spcPct val="130000"/>
              </a:lnSpc>
            </a:pPr>
            <a:r>
              <a:rPr sz="2000" b="0">
                <a:solidFill>
                  <a:srgbClr val="000000"/>
                </a:solidFill>
                <a:latin typeface="微軟正黑體"/>
                <a:ea typeface="微軟正黑體"/>
                <a:cs typeface="微軟正黑體"/>
              </a:rPr>
              <a:t>5. 根據上述資料，支持「通道視紫質的表現是導致神經細胞對藍光產生動作電位的原因」最直接的證據為何？請簡要說明理由。</a:t>
            </a:r>
          </a:p>
        </p:txBody>
      </p:sp>
      <p:sp>
        <p:nvSpPr>
          <p:cNvPr id="10" name="TextBox 9"/>
          <p:cNvSpPr txBox="1"/>
          <p:nvPr/>
        </p:nvSpPr>
        <p:spPr>
          <a:xfrm>
            <a:off x="609600" y="4152900"/>
            <a:ext cx="11049000" cy="800100"/>
          </a:xfrm>
          <a:prstGeom prst="rect">
            <a:avLst/>
          </a:prstGeom>
          <a:noFill/>
        </p:spPr>
        <p:txBody>
          <a:bodyPr wrap="square" anchor="t" lIns="38100" rIns="38100" tIns="19050" bIns="19050">
            <a:spAutoFit/>
          </a:bodyPr>
          <a:lstStyle/>
          <a:p>
            <a:pPr algn="l">
              <a:lnSpc>
                <a:spcPct val="130000"/>
              </a:lnSpc>
            </a:pPr>
            <a:r>
              <a:rPr sz="2000" b="0">
                <a:solidFill>
                  <a:srgbClr val="000000"/>
                </a:solidFill>
                <a:latin typeface="微軟正黑體"/>
                <a:ea typeface="微軟正黑體"/>
                <a:cs typeface="微軟正黑體"/>
              </a:rPr>
              <a:t>6. 若未來光遺傳學能更安全地應用於人類，請提出一種你認為最可能受惠的疾病或臨床情境，並說明在倫理上需要特別注意的地方。</a:t>
            </a:r>
          </a:p>
        </p:txBody>
      </p:sp>
      <p:sp>
        <p:nvSpPr>
          <p:cNvPr id="11" name="TextBox 10"/>
          <p:cNvSpPr txBox="1"/>
          <p:nvPr/>
        </p:nvSpPr>
        <p:spPr>
          <a:xfrm>
            <a:off x="609600" y="5010150"/>
            <a:ext cx="11049000" cy="1047750"/>
          </a:xfrm>
          <a:prstGeom prst="rect">
            <a:avLst/>
          </a:prstGeom>
          <a:noFill/>
        </p:spPr>
        <p:txBody>
          <a:bodyPr wrap="square" anchor="t" lIns="38100" rIns="38100" tIns="19050" bIns="19050">
            <a:spAutoFit/>
          </a:bodyPr>
          <a:lstStyle/>
          <a:p>
            <a:pPr algn="l">
              <a:lnSpc>
                <a:spcPct val="130000"/>
              </a:lnSpc>
            </a:pPr>
            <a:r>
              <a:rPr sz="1600" b="0">
                <a:solidFill>
                  <a:srgbClr val="7F7F7F"/>
                </a:solidFill>
                <a:latin typeface="微軟正黑體"/>
                <a:ea typeface="微軟正黑體"/>
                <a:cs typeface="微軟正黑體"/>
              </a:rPr>
              <a:t>評分重點：能說出一個合理的臨床方向（例如：帕金森氏症深層腦刺激、憂鬱症神經迴路調控、視網膜色素病變的失明復明等）。／能連結光遺傳學的技術原理與該疾病機轉（例如以光取代長期電刺激、或在剩餘神經細胞植入感光蛋白以取代受損感光細胞）。／能討論倫理考量（例如基因導入的長期安全性、不可逆性、知情同意、非醫療用途（增強／控制）的濫用疑慮）。</a:t>
            </a:r>
          </a:p>
        </p:txBody>
      </p:sp>
      <p:sp>
        <p:nvSpPr>
          <p:cNvPr id="12" name="TextBox 11"/>
          <p:cNvSpPr txBox="1"/>
          <p:nvPr/>
        </p:nvSpPr>
        <p:spPr>
          <a:xfrm>
            <a:off x="361950" y="6419850"/>
            <a:ext cx="11468100" cy="266700"/>
          </a:xfrm>
          <a:prstGeom prst="rect">
            <a:avLst/>
          </a:prstGeom>
          <a:noFill/>
        </p:spPr>
        <p:txBody>
          <a:bodyPr wrap="square" anchor="t" lIns="38100" rIns="38100" tIns="19050" bIns="19050">
            <a:spAutoFit/>
          </a:bodyPr>
          <a:lstStyle/>
          <a:p>
            <a:pPr algn="l">
              <a:lnSpc>
                <a:spcPct val="130000"/>
              </a:lnSpc>
            </a:pPr>
            <a:r>
              <a:rPr sz="1400" b="0">
                <a:solidFill>
                  <a:srgbClr val="7F7F7F"/>
                </a:solidFill>
                <a:latin typeface="微軟正黑體"/>
                <a:ea typeface="微軟正黑體"/>
                <a:cs typeface="微軟正黑體"/>
              </a:rPr>
              <a:t>答案見教師版學習單</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1000" y="285750"/>
            <a:ext cx="95250" cy="495300"/>
          </a:xfrm>
          <a:prstGeom prst="rect">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209550"/>
            <a:ext cx="7620000" cy="628650"/>
          </a:xfrm>
          <a:prstGeom prst="rect">
            <a:avLst/>
          </a:prstGeom>
          <a:noFill/>
        </p:spPr>
        <p:txBody>
          <a:bodyPr wrap="square" anchor="ctr" lIns="38100" rIns="38100" tIns="19050" bIns="19050">
            <a:spAutoFit/>
          </a:bodyPr>
          <a:lstStyle/>
          <a:p>
            <a:pPr algn="l">
              <a:lnSpc>
                <a:spcPct val="130000"/>
              </a:lnSpc>
            </a:pPr>
            <a:r>
              <a:rPr sz="3400" b="1">
                <a:solidFill>
                  <a:srgbClr val="000000"/>
                </a:solidFill>
                <a:latin typeface="微軟正黑體"/>
                <a:ea typeface="微軟正黑體"/>
                <a:cs typeface="微軟正黑體"/>
              </a:rPr>
              <a:t>回到課本</a:t>
            </a:r>
          </a:p>
        </p:txBody>
      </p:sp>
      <p:sp>
        <p:nvSpPr>
          <p:cNvPr id="5" name="TextBox 4"/>
          <p:cNvSpPr txBox="1"/>
          <p:nvPr/>
        </p:nvSpPr>
        <p:spPr>
          <a:xfrm>
            <a:off x="8191500" y="361950"/>
            <a:ext cx="3619500" cy="323850"/>
          </a:xfrm>
          <a:prstGeom prst="rect">
            <a:avLst/>
          </a:prstGeom>
          <a:noFill/>
        </p:spPr>
        <p:txBody>
          <a:bodyPr wrap="square" anchor="ctr" lIns="38100" rIns="38100" tIns="19050" bIns="19050">
            <a:spAutoFit/>
          </a:bodyPr>
          <a:lstStyle/>
          <a:p>
            <a:pPr algn="r">
              <a:lnSpc>
                <a:spcPct val="130000"/>
              </a:lnSpc>
            </a:pPr>
            <a:r>
              <a:rPr sz="1600" b="0">
                <a:solidFill>
                  <a:srgbClr val="7F7F7F"/>
                </a:solidFill>
                <a:latin typeface="微軟正黑體"/>
                <a:ea typeface="微軟正黑體"/>
                <a:cs typeface="微軟正黑體"/>
              </a:rPr>
              <a:t>課本 3-1 神經系統</a:t>
            </a:r>
          </a:p>
        </p:txBody>
      </p:sp>
      <p:sp>
        <p:nvSpPr>
          <p:cNvPr id="6" name="Rectangle 5"/>
          <p:cNvSpPr/>
          <p:nvPr/>
        </p:nvSpPr>
        <p:spPr>
          <a:xfrm>
            <a:off x="381000" y="952500"/>
            <a:ext cx="11430000" cy="1905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600" y="1428750"/>
            <a:ext cx="11049000" cy="2857500"/>
          </a:xfrm>
          <a:prstGeom prst="rect">
            <a:avLst/>
          </a:prstGeom>
          <a:noFill/>
        </p:spPr>
        <p:txBody>
          <a:bodyPr wrap="square" anchor="t" lIns="38100" rIns="38100" tIns="19050" bIns="19050">
            <a:spAutoFit/>
          </a:bodyPr>
          <a:lstStyle/>
          <a:p>
            <a:pPr algn="l">
              <a:lnSpc>
                <a:spcPct val="150000"/>
              </a:lnSpc>
            </a:pPr>
            <a:r>
              <a:rPr sz="2000" b="0">
                <a:solidFill>
                  <a:srgbClr val="000000"/>
                </a:solidFill>
                <a:latin typeface="微軟正黑體"/>
                <a:ea typeface="微軟正黑體"/>
                <a:cs typeface="微軟正黑體"/>
              </a:rPr>
              <a:t>・9805 3-1 神經系統：直接相關：此獎核心就是用光控制神經元產生動作電位、研究神經迴路如何決定行為與情緒。</a:t>
            </a:r>
          </a:p>
          <a:p>
            <a:pPr algn="l">
              <a:lnSpc>
                <a:spcPct val="150000"/>
              </a:lnSpc>
            </a:pPr>
            <a:r>
              <a:rPr sz="2000" b="0">
                <a:solidFill>
                  <a:srgbClr val="000000"/>
                </a:solidFill>
                <a:latin typeface="微軟正黑體"/>
                <a:ea typeface="微軟正黑體"/>
                <a:cs typeface="微軟正黑體"/>
              </a:rPr>
              <a:t>・9801 2-5 遺傳工程技術及其應用：方法基礎：把藻類的通道視紫質基因「送進」神經細胞使之表現，就是標準的遺傳工程操作。</a:t>
            </a:r>
          </a:p>
          <a:p>
            <a:pPr algn="l">
              <a:lnSpc>
                <a:spcPct val="150000"/>
              </a:lnSpc>
            </a:pPr>
            <a:r>
              <a:rPr sz="2000" b="0">
                <a:solidFill>
                  <a:srgbClr val="000000"/>
                </a:solidFill>
                <a:latin typeface="微軟正黑體"/>
                <a:ea typeface="微軟正黑體"/>
                <a:cs typeface="微軟正黑體"/>
              </a:rPr>
              <a:t>・9801 1-2 細胞的構造與功能：原理基礎：通道視紫質是細胞膜上的膜蛋白離子通道，呼應細胞膜與膜蛋白的構造與功能。</a:t>
            </a:r>
          </a:p>
        </p:txBody>
      </p:sp>
      <p:sp>
        <p:nvSpPr>
          <p:cNvPr id="8" name="Rectangle 7"/>
          <p:cNvSpPr/>
          <p:nvPr/>
        </p:nvSpPr>
        <p:spPr>
          <a:xfrm>
            <a:off x="609600" y="4476750"/>
            <a:ext cx="11049000" cy="1143000"/>
          </a:xfrm>
          <a:prstGeom prst="rect">
            <a:avLst/>
          </a:prstGeom>
          <a:solidFill>
            <a:srgbClr val="E8F3E3"/>
          </a:solidFill>
          <a:ln w="57150">
            <a:solidFill>
              <a:srgbClr val="4C85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2950" y="4543425"/>
            <a:ext cx="10782300" cy="1009650"/>
          </a:xfrm>
          <a:prstGeom prst="rect">
            <a:avLst/>
          </a:prstGeom>
          <a:noFill/>
        </p:spPr>
        <p:txBody>
          <a:bodyPr wrap="square" anchor="ctr" lIns="38100" rIns="38100" tIns="19050" bIns="19050">
            <a:spAutoFit/>
          </a:bodyPr>
          <a:lstStyle/>
          <a:p>
            <a:pPr algn="l">
              <a:lnSpc>
                <a:spcPct val="130000"/>
              </a:lnSpc>
            </a:pPr>
            <a:r>
              <a:rPr sz="2000" b="0">
                <a:solidFill>
                  <a:srgbClr val="000000"/>
                </a:solidFill>
                <a:latin typeface="華康圓體 Std W7"/>
                <a:ea typeface="華康圓體 Std W7"/>
                <a:cs typeface="華康圓體 Std W7"/>
              </a:rPr>
              <a:t>搭配：學習單（學生版／教師版 PDF）、近十年得獎主題 × 課本章節對照表</a:t>
            </a:r>
          </a:p>
          <a:p>
            <a:pPr algn="l">
              <a:lnSpc>
                <a:spcPct val="130000"/>
              </a:lnSpc>
            </a:pPr>
            <a:r>
              <a:rPr sz="2000" b="0">
                <a:solidFill>
                  <a:srgbClr val="000000"/>
                </a:solidFill>
                <a:latin typeface="華康圓體 Std W7"/>
                <a:ea typeface="華康圓體 Std W7"/>
                <a:cs typeface="華康圓體 Std W7"/>
              </a:rPr>
              <a:t>開獎資料以諾貝爾基金會官方公告為準；本簡報供課堂介紹，不作為評量依據</a:t>
            </a:r>
          </a:p>
        </p:txBody>
      </p:sp>
      <p:sp>
        <p:nvSpPr>
          <p:cNvPr id="10" name="TextBox 9"/>
          <p:cNvSpPr txBox="1"/>
          <p:nvPr/>
        </p:nvSpPr>
        <p:spPr>
          <a:xfrm>
            <a:off x="361950" y="6419850"/>
            <a:ext cx="11468100" cy="266700"/>
          </a:xfrm>
          <a:prstGeom prst="rect">
            <a:avLst/>
          </a:prstGeom>
          <a:noFill/>
        </p:spPr>
        <p:txBody>
          <a:bodyPr wrap="square" anchor="t" lIns="38100" rIns="38100" tIns="19050" bIns="19050">
            <a:spAutoFit/>
          </a:bodyPr>
          <a:lstStyle/>
          <a:p>
            <a:pPr algn="l">
              <a:lnSpc>
                <a:spcPct val="130000"/>
              </a:lnSpc>
            </a:pPr>
            <a:r>
              <a:rPr sz="1400" b="0">
                <a:solidFill>
                  <a:srgbClr val="7F7F7F"/>
                </a:solidFill>
                <a:latin typeface="微軟正黑體"/>
                <a:ea typeface="微軟正黑體"/>
                <a:cs typeface="微軟正黑體"/>
              </a:rPr>
              <a:t>泰宇《生物》</a:t>
            </a:r>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訂 2">
      <a:majorFont>
        <a:latin typeface="Calibri"/>
        <a:ea typeface="微軟正黑體"/>
        <a:cs typeface=""/>
      </a:majorFont>
      <a:minorFont>
        <a:latin typeface="Calibri"/>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EC9FF"/>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14732</TotalTime>
  <Words>4365</Words>
  <Application>Microsoft Office PowerPoint</Application>
  <PresentationFormat>寬螢幕</PresentationFormat>
  <Paragraphs>742</Paragraphs>
  <Slides>74</Slides>
  <Notes>49</Notes>
  <HiddenSlides>0</HiddenSlides>
  <MMClips>1</MMClips>
  <ScaleCrop>false</ScaleCrop>
  <HeadingPairs>
    <vt:vector size="6" baseType="variant">
      <vt:variant>
        <vt:lpstr>使用字型</vt:lpstr>
      </vt:variant>
      <vt:variant>
        <vt:i4>10</vt:i4>
      </vt:variant>
      <vt:variant>
        <vt:lpstr>佈景主題</vt:lpstr>
      </vt:variant>
      <vt:variant>
        <vt:i4>1</vt:i4>
      </vt:variant>
      <vt:variant>
        <vt:lpstr>投影片標題</vt:lpstr>
      </vt:variant>
      <vt:variant>
        <vt:i4>74</vt:i4>
      </vt:variant>
    </vt:vector>
  </HeadingPairs>
  <TitlesOfParts>
    <vt:vector size="85" baseType="lpstr">
      <vt:lpstr>jf open 粉圓 2.0</vt:lpstr>
      <vt:lpstr>Quicksand Book</vt:lpstr>
      <vt:lpstr>華康少女文字W3(P)</vt:lpstr>
      <vt:lpstr>華康方圓體 Std W7</vt:lpstr>
      <vt:lpstr>華康平劇體 Std W7</vt:lpstr>
      <vt:lpstr>華康圓體</vt:lpstr>
      <vt:lpstr>Microsoft JhengHei</vt:lpstr>
      <vt:lpstr>Arial</vt:lpstr>
      <vt:lpstr>Calibri</vt:lpstr>
      <vt:lpstr>Wingdings</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yu</dc:creator>
  <cp:lastModifiedBy>品策部 聖元</cp:lastModifiedBy>
  <cp:revision>447</cp:revision>
  <dcterms:created xsi:type="dcterms:W3CDTF">2025-08-30T05:41:00Z</dcterms:created>
  <dcterms:modified xsi:type="dcterms:W3CDTF">2026-08-04T05:36:45Z</dcterms:modified>
</cp:coreProperties>
</file>